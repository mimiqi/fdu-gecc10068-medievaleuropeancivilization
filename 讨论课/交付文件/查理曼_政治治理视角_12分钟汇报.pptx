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7653f695743af" /><Relationship Type="http://schemas.openxmlformats.org/officeDocument/2006/relationships/extended-properties" Target="/docProps/app.xml" Id="R794fa08391664967" /><Relationship Type="http://schemas.openxmlformats.org/officeDocument/2006/relationships/officeDocument" Target="/ppt/presentation.xml" Id="R52d84edf319040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ef9bef356d4287"/>
  </p:sldMasterIdLst>
  <p:notesMasterIdLst>
    <p:notesMasterId xmlns:r="http://schemas.openxmlformats.org/officeDocument/2006/relationships" r:id="R355d51aec0644d24"/>
  </p:notesMasterIdLst>
  <p:sldIdLst>
    <p:sldId xmlns:r="http://schemas.openxmlformats.org/officeDocument/2006/relationships" id="256" r:id="Rbed549b68450413a"/>
    <p:sldId xmlns:r="http://schemas.openxmlformats.org/officeDocument/2006/relationships" id="257" r:id="Rff6b5446fab841f7"/>
    <p:sldId xmlns:r="http://schemas.openxmlformats.org/officeDocument/2006/relationships" id="258" r:id="Rb18f06e2c2e047bd"/>
    <p:sldId xmlns:r="http://schemas.openxmlformats.org/officeDocument/2006/relationships" id="259" r:id="Rc0b460a6d9464696"/>
    <p:sldId xmlns:r="http://schemas.openxmlformats.org/officeDocument/2006/relationships" id="260" r:id="R12a9866a9a364752"/>
    <p:sldId xmlns:r="http://schemas.openxmlformats.org/officeDocument/2006/relationships" id="261" r:id="R3c285df02819417f"/>
    <p:sldId xmlns:r="http://schemas.openxmlformats.org/officeDocument/2006/relationships" id="262" r:id="R9fbebdf7c1244000"/>
    <p:sldId xmlns:r="http://schemas.openxmlformats.org/officeDocument/2006/relationships" id="263" r:id="Rfbe714b023da457e"/>
    <p:sldId xmlns:r="http://schemas.openxmlformats.org/officeDocument/2006/relationships" id="264" r:id="R1be67e9e0f2f4c37"/>
    <p:sldId xmlns:r="http://schemas.openxmlformats.org/officeDocument/2006/relationships" id="265" r:id="Rbd5dbf93575546dd"/>
    <p:sldId xmlns:r="http://schemas.openxmlformats.org/officeDocument/2006/relationships" id="266" r:id="R5468da1878b2422f"/>
    <p:sldId xmlns:r="http://schemas.openxmlformats.org/officeDocument/2006/relationships" id="267" r:id="Rd120b97af79448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8257348df046b1" /><Relationship Type="http://schemas.openxmlformats.org/officeDocument/2006/relationships/slideMaster" Target="/ppt/slideMasters/slideMaster1.xml" Id="Recef9bef356d4287" /><Relationship Type="http://schemas.openxmlformats.org/officeDocument/2006/relationships/notesMaster" Target="/ppt/notesMasters/notesMaster1.xml" Id="R355d51aec0644d24" /><Relationship Type="http://schemas.openxmlformats.org/officeDocument/2006/relationships/presProps" Target="/ppt/presProps.xml" Id="Rc6740bcac71749b7" /><Relationship Type="http://schemas.openxmlformats.org/officeDocument/2006/relationships/tableStyles" Target="/ppt/tableStyles.xml" Id="R994984da8d9e47c2" /><Relationship Type="http://schemas.openxmlformats.org/officeDocument/2006/relationships/slide" Target="/ppt/slides/slide1.xml" Id="Rbed549b68450413a" /><Relationship Type="http://schemas.openxmlformats.org/officeDocument/2006/relationships/slide" Target="/ppt/slides/slide2.xml" Id="Rff6b5446fab841f7" /><Relationship Type="http://schemas.openxmlformats.org/officeDocument/2006/relationships/slide" Target="/ppt/slides/slide3.xml" Id="Rb18f06e2c2e047bd" /><Relationship Type="http://schemas.openxmlformats.org/officeDocument/2006/relationships/slide" Target="/ppt/slides/slide4.xml" Id="Rc0b460a6d9464696" /><Relationship Type="http://schemas.openxmlformats.org/officeDocument/2006/relationships/slide" Target="/ppt/slides/slide5.xml" Id="R12a9866a9a364752" /><Relationship Type="http://schemas.openxmlformats.org/officeDocument/2006/relationships/slide" Target="/ppt/slides/slide6.xml" Id="R3c285df02819417f" /><Relationship Type="http://schemas.openxmlformats.org/officeDocument/2006/relationships/slide" Target="/ppt/slides/slide7.xml" Id="R9fbebdf7c1244000" /><Relationship Type="http://schemas.openxmlformats.org/officeDocument/2006/relationships/slide" Target="/ppt/slides/slide8.xml" Id="Rfbe714b023da457e" /><Relationship Type="http://schemas.openxmlformats.org/officeDocument/2006/relationships/slide" Target="/ppt/slides/slide9.xml" Id="R1be67e9e0f2f4c37" /><Relationship Type="http://schemas.openxmlformats.org/officeDocument/2006/relationships/slide" Target="/ppt/slides/slide10.xml" Id="Rbd5dbf93575546dd" /><Relationship Type="http://schemas.openxmlformats.org/officeDocument/2006/relationships/slide" Target="/ppt/slides/slide11.xml" Id="R5468da1878b2422f" /><Relationship Type="http://schemas.openxmlformats.org/officeDocument/2006/relationships/slide" Target="/ppt/slides/slide12.xml" Id="Rd120b97af79448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c7dbda090a40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92bd2b942641e3" /><Relationship Type="http://schemas.openxmlformats.org/officeDocument/2006/relationships/notesMaster" Target="/ppt/notesMasters/notesMaster1.xml" Id="R14059c8615fc42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6e7fadd9764a8a" /><Relationship Type="http://schemas.openxmlformats.org/officeDocument/2006/relationships/notesMaster" Target="/ppt/notesMasters/notesMaster1.xml" Id="Ra699148e633148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9e2da6127d486b" /><Relationship Type="http://schemas.openxmlformats.org/officeDocument/2006/relationships/notesMaster" Target="/ppt/notesMasters/notesMaster1.xml" Id="R3c68aa270ee2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419692cccd4d35" /><Relationship Type="http://schemas.openxmlformats.org/officeDocument/2006/relationships/notesMaster" Target="/ppt/notesMasters/notesMaster1.xml" Id="R572683337cb540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9f9d7d677c4756" /><Relationship Type="http://schemas.openxmlformats.org/officeDocument/2006/relationships/notesMaster" Target="/ppt/notesMasters/notesMaster1.xml" Id="Rb57d875fd3e74b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5634f8408b43ab" /><Relationship Type="http://schemas.openxmlformats.org/officeDocument/2006/relationships/notesMaster" Target="/ppt/notesMasters/notesMaster1.xml" Id="R2d1b9e7be5cc49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36922f4c894741" /><Relationship Type="http://schemas.openxmlformats.org/officeDocument/2006/relationships/notesMaster" Target="/ppt/notesMasters/notesMaster1.xml" Id="Rb46834db2e014b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a73ef10da64012" /><Relationship Type="http://schemas.openxmlformats.org/officeDocument/2006/relationships/notesMaster" Target="/ppt/notesMasters/notesMaster1.xml" Id="Rb57e8d2b0e9049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0ecdcf65c34dbe" /><Relationship Type="http://schemas.openxmlformats.org/officeDocument/2006/relationships/notesMaster" Target="/ppt/notesMasters/notesMaster1.xml" Id="Ra2ba4e2a8c3243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301794ecc04131" /><Relationship Type="http://schemas.openxmlformats.org/officeDocument/2006/relationships/notesMaster" Target="/ppt/notesMasters/notesMaster1.xml" Id="R710edb2051e84a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e7faa51af54dbc" /><Relationship Type="http://schemas.openxmlformats.org/officeDocument/2006/relationships/notesMaster" Target="/ppt/notesMasters/notesMaster1.xml" Id="Rebc876422ffb4b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ddc99352b942e0" /><Relationship Type="http://schemas.openxmlformats.org/officeDocument/2006/relationships/notesMaster" Target="/ppt/notesMasters/notesMaster1.xml" Id="Ra67221f6485541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  0:00—0:20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。今天我们想从查理曼怎样治理帝国，来回答他究竟是哪一种君主。我们的看法是，他确实继承了罗马皇帝的身份和理想，但如果看他如何管理地方、召集军队和处理政务，我们更倾向于把他看作一位新型欧洲君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本页参考：立论依据：艾因哈德《查理大帝传》30页；布洛赫《封建社会》上卷266—269页。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  0:20—1:00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汇报集中讨论政治。判断查理曼的性质，既要看他的皇帝称号，也要看他依靠谁来统治。我们会重点看伯爵怎样审判案件，君主怎样监督伯爵，以及地方领主怎样为他召集人员。另外，比较的对象应当包括已经信奉基督教的晚期罗马帝国。所以，重视教会本身还不足以说明查理曼有什么新意。我们要找的是，他在不同的社会条件下，对原有的统治办法作了哪些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本页参考：巴尔贝罗《查理大帝：欧洲之父》146—149页；布洛赫《封建社会》上卷266—269页。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  1:00—2:10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罗马传统。800年圣诞节，查理曼在罗马接受教皇利奥三世加冕，获得皇帝称号。这让他能够以超出法兰克国王的身份，主张对不同地区的统治。建筑上也能看到这种追求。艾因哈德记载，他修建亚琛礼拜堂时，从罗马和拉文纳运来柱子及大理石。到了812年，君士坦丁堡的使节承认他的皇帝地位，东西方两个皇帝由此达成了一定的妥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查理曼对罗马的继承有称号、有仪式，也有具体的建筑实践，绝非只是换了一个名字。不过，他仍然是法兰克人和伦巴第人的国王，手中的领土和统治条件也与古罗马不同。我们承认他的罗马皇帝身份，接下来再看，他实际管理的是一个什么样的帝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本页参考：艾因哈德《查理大帝传》28、30页（PDF 37、39）；Nelson, King and Emperor, PDF 405—408、480—481页。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  <a:p xmlns:a="http://schemas.openxmlformats.org/drawingml/2006/main">
            <a:r>
              <a:t>补充依据：吸收张元赫稿中的建筑比较，具体核对艾因哈德第28页。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  2:10—3:20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查理曼最显眼的功绩，是通过战争扩大法兰克统治。774年，他征服伦巴第王国，把意大利北部纳入自己的统治。但征服之后，伦巴第人仍保留了自己的法律和一些政治传统。也就是说，服从同一位君主，并不代表各地马上采用同一套制度。面对不同的法律和地方贵族，查理曼还得想办法让自己的命令得到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萨克森战争则显示了征服的另一面。艾因哈德记载，查理曼迁走了大批萨克森人，并要求归顺者接受基督教。我们可以承认这些战争扩大了帝国，也必须看到其中的强迫和暴力。随着领土扩大，君主不可能亲自处理每个地方的事务。地方伯爵掌管行政、审判和征兵，怎样监督这些人，就成了查理曼要解决的重要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本页参考：艾因哈德《查理大帝传》10、12页；Nelson, King and Emperor, PDF 175页；地图：巴尔贝罗书前图（PDF 5）。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  <a:p xmlns:a="http://schemas.openxmlformats.org/drawingml/2006/main">
            <a:r>
              <a:t>地图：巴尔贝罗《查理大帝：欧洲之父》书前地图，PDF第5页，保留原图地理内容。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  3:20—5:10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司法。伯爵在地方上有很大的权力，如果他偏袒有势力的人，或者自己收受贿赂，普通人就很难得到公正的判决。巴尔贝罗提到过官员侵占寡妇财产的案件，最后需要君主派人干预。789年的训令也要求法官不得收礼。这些记载说明，地方司法的问题相当具体，查理曼也确实试图加以纠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他的做法主要有几项。首先，派巡察使到地方了解情况，检查伯爵怎样办案。其次，让一批相对固定的人员辅助审判，也就是书中提到的斯卡比尼。这些人经常参与案件，比临时召集的人更有机会熟悉法律。809年，他又减轻了普通自由民出席公共法庭的负担。一般人不必频繁到场，但涉及自己的案件等情况仍要出席，更多审判事务则由指定人员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措施的意义，在于查理曼开始具体调整谁来审案、谁来监督，以及普通人需要承担多少义务。改革当然也有限度，审判人员的选择仍可能受伯爵影响，各地也继续使用不同法律。因此，这里值得肯定的是他改善地方司法的努力。它能让我们看到，查理曼除了要求臣民服从，也在设法约束替他行使权力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本页参考：巴尔贝罗《查理大帝：欧洲之父》206—210页（PDF 215—219）；Nelson, King and Emperor, PDF 204页。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  5:10—7:00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个办法，是借助领主和附庸之间的关系。这里有一个容易混淆的地方。查理曼要求臣民向他宣誓效忠，这是一种政治义务。而附庸关系，是特定的人向某位领主承诺效忠和服务，领主也承担保护他的责任。一个人可以同时负有这两种义务，但不能因此把所有臣民都叫作附庸。地方伯爵的公共职务，也不能直接等同于他个人的依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查理曼会利用这种关系？布洛赫解释，当时可用的官员有限，交通也不方便，君主很难直接联系到每一个人。他引述810年的规定，说领主要约束自己的属从，让他们服从皇帝命令。这样一来，领主就可以帮助君主召集人员服军役，或者督促他们出庭。我们通常容易把附庸关系和王权衰弱联系起来，但在这个例子中，查理曼恰恰想用它加强自己的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种做法也有代价。君主要让命令传到地方，就得依靠有影响力的领主，并争取他们合作。个人忠诚能够帮助他办事，也使他的统治离不开这些中间人。这是查理曼统治中很有特点的一面。不过，封君封臣制度此后还有很长的发展过程，我们不能把当时的伯爵一概看成后来的世袭封建领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本页参考：布洛赫《封建社会》上卷266—269页（PDF 288—291）；巴尔贝罗《查理大帝：欧洲之父》146—149页。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  7:00—8:10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化方面，查理曼支持的教育和抄书活动，是加洛林文艺复兴的重要内容。789年的训令要求教会办学，教授语法等知识。他也支持校订《圣经》，减少抄本中的错误。同时，加洛林小写字体逐渐传播，字形更清晰，便于辨认。这种字体由抄写员和学者逐渐发展起来，不能说是查理曼本人发明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改革与政治有什么关系？处理文书、传达命令和解释教义，都需要熟悉拉丁文的人。教会学校培养这样的人员，较为一致的书写方式也方便不同地区阅读和使用文本。因此，文化建设除了服务信仰，也有助于帝国的日常治理。这里的变化，是查理曼进一步支持了教会教育和书写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本页参考：巴尔贝罗《查理大帝：欧洲之父》231—237页（PDF 240—246）。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  <a:p xmlns:a="http://schemas.openxmlformats.org/drawingml/2006/main">
            <a:r>
              <a:t>史料提示：789年的训令说明办学要求，不等于各地均已落实。巴尔贝罗第237页指出，没有直接证据证明小写字体出自查理曼本人的特别命令。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  8:10—9:30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帝国的地理重心，也能帮助我们理解这种差别。巴尔贝罗在第113页指出，古罗马帝国围绕地中海展开，统治范围横跨欧洲、北非和亚洲沿岸。查理曼帝国则以欧洲大陆为主，重心在莱茵河流域。它的核心大体包括今天法国、德国和意大利北部的部分地区，亚琛也成为重要的政治中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了这个区别，欧洲性就比较容易说清楚。查理曼在这片大陆领土上，通过伯爵、地方领主和教会，把许多地区联系起来。共同使用的拉丁文和基督教传统，又让这些地区能够保持往来。我们所说的新型欧洲君主，指的是他在这样的地方和条件下建立统治。这当然还不是现代欧洲国家，更不能说今天的欧洲直接诞生于查理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本页参考：巴尔贝罗《查理大帝：欧洲之父》113页（PDF 122）、229、234页；布洛赫《封建社会》上卷266—269页；Nelson, PDF 408、515页。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  <a:p xmlns:a="http://schemas.openxmlformats.org/drawingml/2006/main">
            <a:r>
              <a:t>补充依据：吸收张元赫稿中的地理重心比较，具体核对巴尔贝罗第113页。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  9:30—10:40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这些证据放在一起看，就能发现延续与变化是同时存在的。查理曼使用皇帝称号，希望维护基督教秩序，也把主持正义看作君主的责任。这些都能在罗马传统中找到依据。但到了具体办事的时候，他要派巡察使检查伯爵，要借领主召集人员，还要依靠教士处理文书和维持各地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办法都有各自的来历，查理曼的特点在于怎样使用它们。司法改革让君主更有机会过问地方事务，附庸关系帮助他召集军队，却也使他依赖地方领主。加上帝国重心位于欧洲大陆，我们认为新型欧洲君主更能说明他的实际处境。这个判断承认他对罗马的继承，同时也解释了为什么他的帝国没有照搬古罗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本页参考：综合：艾因哈德《查理大帝传》28、30页；巴尔贝罗《查理大帝：欧洲之父》113、206—210、229页；布洛赫《封建社会》上卷266—269页。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  10:40—11:30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讨论题，查理曼的主要功绩，是扩大法兰克统治，整顿地方司法，并支持教会教育和拉丁文化。帝国后来发生分裂，但教会之间的往来、书籍抄写和共同的拉丁文化并未因此消失。评价他的影响，不能只看政治统一维持了多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因此，我们更倾向于称他为新型欧洲君主。他继承了罗马皇帝的理想，统治的重心在法兰克地区，也需要地方贵族和教会合作。前面讨论的司法、附庸关系和文化教育，正好说明了这种统治的特点。谢谢大家。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本页参考：结论依据：艾因哈德《查理大帝传》10—12页；巴尔贝罗《查理大帝：欧洲之父》113、206—210、231—237页；布洛赫《封建社会》上卷266—269页；皮朗《穆罕默德和查理曼》290页（PDF 322）。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  <a:p xmlns:a="http://schemas.openxmlformats.org/drawingml/2006/main">
            <a:r>
              <a:t>答辩补充：帝国后来分裂，是否说明查理曼的建设失败了？</a:t>
            </a:r>
          </a:p>
          <a:p xmlns:a="http://schemas.openxmlformats.org/drawingml/2006/main">
            <a:r>
              <a:t>要分别看政治统一和文化影响。分裂说明查理曼没有建立起能长期维持统一的政治秩序，但不能据此否定所有成果。皮朗在第290页强调，政治统一结束后，共同文化仍可延续。书籍的保存与流通，以及拉丁文教育和书写规范，就是理解这种影响的具体例子。不过，这不意味着巡察使等制度原样延续，也不能把后来的欧洲都归功于查理曼。</a:t>
            </a:r>
          </a:p>
          <a:p xmlns:a="http://schemas.openxmlformats.org/drawingml/2006/main">
            <a:r>
              <a:t>依据：皮朗《穆罕默德和查理曼》290页（PDF 322）；巴尔贝罗《查理大帝：欧洲之父》232—237页（PDF 241—246）。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  不计入主讲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本页参考：本页所列书目均来自本组课程资料文件夹；每页页脚保留对应书名及定位页码。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  <a:p xmlns:a="http://schemas.openxmlformats.org/drawingml/2006/main">
            <a:r>
              <a:t>完整书目：</a:t>
            </a:r>
          </a:p>
          <a:p xmlns:a="http://schemas.openxmlformats.org/drawingml/2006/main">
            <a:r>
              <a:t>[法兰克] 艾因哈德著。课程提供中译本扫描件。《查理大帝传》；书内10—12、28—31页；对应PDF 19—21、37—40页。</a:t>
            </a:r>
          </a:p>
          <a:p xmlns:a="http://schemas.openxmlformats.org/drawingml/2006/main">
            <a:r>
              <a:t>[意] 亚历桑德罗·巴尔贝罗著。课程提供中译本扫描件。《查理大帝：欧洲之父》；书内113、146—149、206—210、229、231—237、271—272页；PDF页码＝书内页码＋9；地图PDF 5。</a:t>
            </a:r>
          </a:p>
          <a:p xmlns:a="http://schemas.openxmlformats.org/drawingml/2006/main">
            <a:r>
              <a:t>[法] 马克·布洛赫著。课程提供上下卷合并扫描件。《封建社会》上卷；上卷266—269页；对应PDF 288—291页。</a:t>
            </a:r>
          </a:p>
          <a:p xmlns:a="http://schemas.openxmlformats.org/drawingml/2006/main">
            <a:r>
              <a:t>Janet L. Nelson 著。课程提供英文PDF。King and Emperor: A New Life of Charlemagne；PDF 175、204、405—408、480—481、497—498、515页。</a:t>
            </a:r>
          </a:p>
          <a:p xmlns:a="http://schemas.openxmlformats.org/drawingml/2006/main">
            <a:r>
              <a:t>[比] 亨利·皮朗著。用于讨论政治分裂后的文化延续，以及经济答辩的史学争议背景。《穆罕默德和查理曼》；书内290页（PDF 322）；译者前言4页（PDF 10）。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  答辩时按需使用，约50秒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经济方面，我们会把农业和庄园的重要地位作为补充，但不能据此认定当时完全没有市场。巴尔贝罗指出，庄园能够生产盈余，也存在出售和交换。因此，庄园经济与市场活动可以并存。皮朗关于地中海贸易变化的解释影响很大，书中的译者前言也介绍了相关争议。对这次汇报来说，经济材料可以帮助说明查理曼怎样取得和组织资源，但还不足以单独证明他已经建立了完整的封建制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本页参考：巴尔贝罗《查理大帝：欧洲之父》271—272页（PDF 280—281）；对照：皮朗《穆罕默德和查理曼》译者前言4页（PDF 10）。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  <a:p xmlns:a="http://schemas.openxmlformats.org/drawingml/2006/main">
            <a:r>
              <a:t>此页仅用于答辩，不计入主讲。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388e373c947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2605ab12b4f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747a22c3a41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ffd8add6345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b3c7f46da4f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168ee440142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50A83F-1AF1-40E4-B29B-59B4E1D00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2B13FD-A08A-45AF-A434-CB412D1259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E65358-5783-43C6-8CC3-989D7E15D1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CE195A-1CE8-4C5C-A0CC-ADC28F2812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6323D4-CAD1-46C1-8CDD-C00FD29C57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310267-1193-40C8-A0DD-B4F06FD0D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317688-BFBD-4A31-90A7-FB4433D1E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E3049A-EE59-4481-A7BE-55B73839D3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84BC37-E002-4A03-B5FC-3D88AB25E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C996FD-4137-4C1C-925D-834BF86FA6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87302bb8c461c" /><Relationship Type="http://schemas.openxmlformats.org/officeDocument/2006/relationships/slideLayout" Target="/ppt/slideLayouts/slideLayout1.xml" Id="R781f0e4ab7464aee" /><Relationship Type="http://schemas.openxmlformats.org/officeDocument/2006/relationships/slideLayout" Target="/ppt/slideLayouts/slideLayout2.xml" Id="R926e547a5da44458" /><Relationship Type="http://schemas.openxmlformats.org/officeDocument/2006/relationships/slideLayout" Target="/ppt/slideLayouts/slideLayout3.xml" Id="R56f10bebacec45fa" /><Relationship Type="http://schemas.openxmlformats.org/officeDocument/2006/relationships/slideLayout" Target="/ppt/slideLayouts/slideLayout4.xml" Id="R4075691b23714910" /><Relationship Type="http://schemas.openxmlformats.org/officeDocument/2006/relationships/slideLayout" Target="/ppt/slideLayouts/slideLayout5.xml" Id="R14f8eccfe96e4bae" /><Relationship Type="http://schemas.openxmlformats.org/officeDocument/2006/relationships/slideLayout" Target="/ppt/slideLayouts/slideLayout6.xml" Id="R164842323d9747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1f0e4ab7464aee"/>
    <p:sldLayoutId xmlns:r="http://schemas.openxmlformats.org/officeDocument/2006/relationships" id="2147483650" r:id="R926e547a5da44458"/>
    <p:sldLayoutId xmlns:r="http://schemas.openxmlformats.org/officeDocument/2006/relationships" id="2147483651" r:id="R56f10bebacec45fa"/>
    <p:sldLayoutId xmlns:r="http://schemas.openxmlformats.org/officeDocument/2006/relationships" id="2147483652" r:id="R4075691b23714910"/>
    <p:sldLayoutId xmlns:r="http://schemas.openxmlformats.org/officeDocument/2006/relationships" id="2147483653" r:id="R14f8eccfe96e4bae"/>
    <p:sldLayoutId xmlns:r="http://schemas.openxmlformats.org/officeDocument/2006/relationships" id="2147483654" r:id="R164842323d9747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854ddfe574052" /><Relationship Type="http://schemas.openxmlformats.org/officeDocument/2006/relationships/notesSlide" Target="/ppt/notesSlides/notesSlide1.xml" Id="Rcab626f98cc342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04be3ea7342d3" /><Relationship Type="http://schemas.openxmlformats.org/officeDocument/2006/relationships/notesSlide" Target="/ppt/notesSlides/notesSlide2.xml" Id="R1c8f0133ee3144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c0847dba1c46ad" /><Relationship Type="http://schemas.openxmlformats.org/officeDocument/2006/relationships/notesSlide" Target="/ppt/notesSlides/notesSlide3.xml" Id="Rf22e6bce44454b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4b539ca7b4b6a" /><Relationship Type="http://schemas.openxmlformats.org/officeDocument/2006/relationships/image" Target="/ppt/media/image.png" Id="Rda0c11e9a48243d8" /><Relationship Type="http://schemas.openxmlformats.org/officeDocument/2006/relationships/notesSlide" Target="/ppt/notesSlides/notesSlide4.xml" Id="R09e9b6519e7a4a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57d06781b45db" /><Relationship Type="http://schemas.openxmlformats.org/officeDocument/2006/relationships/notesSlide" Target="/ppt/notesSlides/notesSlide5.xml" Id="R201fbdd4e84b4f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eeecfa2934255" /><Relationship Type="http://schemas.openxmlformats.org/officeDocument/2006/relationships/notesSlide" Target="/ppt/notesSlides/notesSlide6.xml" Id="R8ad8902e862742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d69b663d549f2" /><Relationship Type="http://schemas.openxmlformats.org/officeDocument/2006/relationships/notesSlide" Target="/ppt/notesSlides/notesSlide7.xml" Id="R0dbf09409a3c4c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59dfe1e6c4b60" /><Relationship Type="http://schemas.openxmlformats.org/officeDocument/2006/relationships/notesSlide" Target="/ppt/notesSlides/notesSlide8.xml" Id="Rde5c12bbdcdb4b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8cb0ba568a4d89" /><Relationship Type="http://schemas.openxmlformats.org/officeDocument/2006/relationships/notesSlide" Target="/ppt/notesSlides/notesSlide9.xml" Id="R17c3f36ada434b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6d61ff8ae4e85" /><Relationship Type="http://schemas.openxmlformats.org/officeDocument/2006/relationships/notesSlide" Target="/ppt/notesSlides/notesSlide10.xml" Id="Re69f1b79f6e549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a3e2a293c4a7a" /><Relationship Type="http://schemas.openxmlformats.org/officeDocument/2006/relationships/notesSlide" Target="/ppt/notesSlides/notesSlide11.xml" Id="R7d41399ee51b4f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28a37e0864b6f" /><Relationship Type="http://schemas.openxmlformats.org/officeDocument/2006/relationships/notesSlide" Target="/ppt/notesSlides/notesSlide12.xml" Id="R722e40ee0a0b45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BB760EFE-15D8-45D0-BA07-2C84CE9A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小组讨论汇报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181F21F-4E27-4A99-9EC7-DC57E369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5B1FFC97-891E-4B51-8810-68FBAE0F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7944D83-62FE-43EB-AFBD-828C0BDA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立论依据：艾因哈德《查理大帝传》30页；布洛赫《封建社会》上卷266—269页。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BEC7DDD-029F-4D08-B1EA-9812796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政治治理视角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181177C-2EDC-4DD4-BF95-F631C261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查理曼：罗马皇帝，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还是新型欧洲君主？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C9A13C6-D58D-4D8F-B69B-B1BCAC61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从查理曼如何治理帝国谈起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23FCE9C-FFFB-4ACA-BFD4-A8AB9F80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小班：[待填写]    小组：[待填写]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1945F98-D4AD-4B6A-9C40-61A2B2A1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成员及分工：[姓名—分工]  /  [姓名—分工]  /  [姓名—分工]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                         [姓名—分工]  /  [姓名—分工]  /  [姓名—分工]</a:t>
            </a:r>
          </a:p>
        </p:txBody>
      </p:sp>
    </p:spTree>
    <p:extLst>
      <p:ext uri="{BB962C8B-B14F-4D97-AF65-F5344CB8AC3E}">
        <p14:creationId xmlns:p14="http://schemas.microsoft.com/office/powerpoint/2010/main" val="1855694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9">
            <a:extLst xmlns:a="http://schemas.openxmlformats.org/drawingml/2006/main">
              <a:ext uri="{FF2B5EF4-FFF2-40B4-BE49-F238E27FC236}">
                <a16:creationId xmlns:a16="http://schemas.microsoft.com/office/drawing/2014/main" id="{344F5FA2-9389-4C71-A793-9D2FBD71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讨论思路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DCD033D3-0C37-4433-A040-861D822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heading-2">
            <a:extLst xmlns:a="http://schemas.openxmlformats.org/drawingml/2006/main">
              <a:ext uri="{FF2B5EF4-FFF2-40B4-BE49-F238E27FC236}">
                <a16:creationId xmlns:a16="http://schemas.microsoft.com/office/drawing/2014/main" id="{306A716C-6C08-4765-9C31-B10258BC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从实际统治看查理曼的君主身份</a:t>
            </a:r>
          </a:p>
        </p:txBody>
      </p:sp>
      <p:sp>
        <p:nvSpPr>
          <p:cNvPr id="4" name="rule-11">
            <a:extLst xmlns:a="http://schemas.openxmlformats.org/drawingml/2006/main">
              <a:ext uri="{FF2B5EF4-FFF2-40B4-BE49-F238E27FC236}">
                <a16:creationId xmlns:a16="http://schemas.microsoft.com/office/drawing/2014/main" id="{819B7FA3-3FDD-447C-8C6E-05CE8EEE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8E188CF6-77A3-4A9E-B788-861C0991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巴尔贝罗《查理大帝：欧洲之父》146—149页；布洛赫《封建社会》上卷266—269页。</a:t>
            </a:r>
          </a:p>
        </p:txBody>
      </p:sp>
      <p:sp>
        <p:nvSpPr>
          <p:cNvPr id="6" name="text-13">
            <a:extLst xmlns:a="http://schemas.openxmlformats.org/drawingml/2006/main">
              <a:ext uri="{FF2B5EF4-FFF2-40B4-BE49-F238E27FC236}">
                <a16:creationId xmlns:a16="http://schemas.microsoft.com/office/drawing/2014/main" id="{25A8412F-1FBC-46C7-AE79-4650C6B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14">
            <a:extLst xmlns:a="http://schemas.openxmlformats.org/drawingml/2006/main">
              <a:ext uri="{FF2B5EF4-FFF2-40B4-BE49-F238E27FC236}">
                <a16:creationId xmlns:a16="http://schemas.microsoft.com/office/drawing/2014/main" id="{3056AA24-0896-4AC8-801B-4DD21D55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71650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怎样管理地方？</a:t>
            </a:r>
          </a:p>
        </p:txBody>
      </p:sp>
      <p:sp>
        <p:nvSpPr>
          <p:cNvPr id="8" name="text-15">
            <a:extLst xmlns:a="http://schemas.openxmlformats.org/drawingml/2006/main">
              <a:ext uri="{FF2B5EF4-FFF2-40B4-BE49-F238E27FC236}">
                <a16:creationId xmlns:a16="http://schemas.microsoft.com/office/drawing/2014/main" id="{D3D72996-24F3-41BB-9435-D4C4CDBD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9750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君主怎样让伯爵和领主听命</a:t>
            </a:r>
          </a:p>
        </p:txBody>
      </p:sp>
      <p:sp>
        <p:nvSpPr>
          <p:cNvPr id="9" name="rule-16">
            <a:extLst xmlns:a="http://schemas.openxmlformats.org/drawingml/2006/main">
              <a:ext uri="{FF2B5EF4-FFF2-40B4-BE49-F238E27FC236}">
                <a16:creationId xmlns:a16="http://schemas.microsoft.com/office/drawing/2014/main" id="{F8CB3913-24C1-4054-9BFA-FD50A023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10" name="text-17">
            <a:extLst xmlns:a="http://schemas.openxmlformats.org/drawingml/2006/main">
              <a:ext uri="{FF2B5EF4-FFF2-40B4-BE49-F238E27FC236}">
                <a16:creationId xmlns:a16="http://schemas.microsoft.com/office/drawing/2014/main" id="{59D83AF1-8554-4636-B519-318B7CAC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18">
            <a:extLst xmlns:a="http://schemas.openxmlformats.org/drawingml/2006/main">
              <a:ext uri="{FF2B5EF4-FFF2-40B4-BE49-F238E27FC236}">
                <a16:creationId xmlns:a16="http://schemas.microsoft.com/office/drawing/2014/main" id="{B2C7A664-971E-4D97-AA68-BF73F7F0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52725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怎样约束伯爵？</a:t>
            </a:r>
          </a:p>
        </p:txBody>
      </p:sp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F83F112E-B5DA-4B58-8DFE-1847AA51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90825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谁来审判，谁来监督伯爵</a:t>
            </a:r>
          </a:p>
        </p:txBody>
      </p:sp>
      <p:sp>
        <p:nvSpPr>
          <p:cNvPr id="13" name="rule-20">
            <a:extLst xmlns:a="http://schemas.openxmlformats.org/drawingml/2006/main">
              <a:ext uri="{FF2B5EF4-FFF2-40B4-BE49-F238E27FC236}">
                <a16:creationId xmlns:a16="http://schemas.microsoft.com/office/drawing/2014/main" id="{67DBCA72-EEA5-4F40-97E4-623612F5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57575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14" name="text-21">
            <a:extLst xmlns:a="http://schemas.openxmlformats.org/drawingml/2006/main">
              <a:ext uri="{FF2B5EF4-FFF2-40B4-BE49-F238E27FC236}">
                <a16:creationId xmlns:a16="http://schemas.microsoft.com/office/drawing/2014/main" id="{0EE61341-3241-488E-9E52-6876E91D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22">
            <a:extLst xmlns:a="http://schemas.openxmlformats.org/drawingml/2006/main">
              <a:ext uri="{FF2B5EF4-FFF2-40B4-BE49-F238E27FC236}">
                <a16:creationId xmlns:a16="http://schemas.microsoft.com/office/drawing/2014/main" id="{5EE2D149-8B08-49B4-B59F-8EB68EAF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怎样召集军队？</a:t>
            </a:r>
          </a:p>
        </p:txBody>
      </p:sp>
      <p:sp>
        <p:nvSpPr>
          <p:cNvPr id="16" name="text-23">
            <a:extLst xmlns:a="http://schemas.openxmlformats.org/drawingml/2006/main">
              <a:ext uri="{FF2B5EF4-FFF2-40B4-BE49-F238E27FC236}">
                <a16:creationId xmlns:a16="http://schemas.microsoft.com/office/drawing/2014/main" id="{84F56C85-8057-4605-BC6A-617509D3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71900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领主怎样为君主召集人员</a:t>
            </a:r>
          </a:p>
        </p:txBody>
      </p:sp>
      <p:sp>
        <p:nvSpPr>
          <p:cNvPr id="17" name="text-24">
            <a:extLst xmlns:a="http://schemas.openxmlformats.org/drawingml/2006/main">
              <a:ext uri="{FF2B5EF4-FFF2-40B4-BE49-F238E27FC236}">
                <a16:creationId xmlns:a16="http://schemas.microsoft.com/office/drawing/2014/main" id="{78081717-A59F-43E8-B499-A05E8929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他调整了原有的统治办法，回应当时的实际问题。</a:t>
            </a:r>
          </a:p>
        </p:txBody>
      </p:sp>
    </p:spTree>
    <p:extLst>
      <p:ext uri="{BB962C8B-B14F-4D97-AF65-F5344CB8AC3E}">
        <p14:creationId xmlns:p14="http://schemas.microsoft.com/office/powerpoint/2010/main" val="1337392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5">
            <a:extLst xmlns:a="http://schemas.openxmlformats.org/drawingml/2006/main">
              <a:ext uri="{FF2B5EF4-FFF2-40B4-BE49-F238E27FC236}">
                <a16:creationId xmlns:a16="http://schemas.microsoft.com/office/drawing/2014/main" id="{26FC0AF5-768B-490D-A6F8-D6A05BA4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罗马传统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74331B46-7C4D-41E8-9268-43284896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heading-3">
            <a:extLst xmlns:a="http://schemas.openxmlformats.org/drawingml/2006/main">
              <a:ext uri="{FF2B5EF4-FFF2-40B4-BE49-F238E27FC236}">
                <a16:creationId xmlns:a16="http://schemas.microsoft.com/office/drawing/2014/main" id="{84E51730-AB01-4595-B10E-F2DABF50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罗马传统在查理曼时代继续发挥作用</a:t>
            </a:r>
          </a:p>
        </p:txBody>
      </p:sp>
      <p:sp>
        <p:nvSpPr>
          <p:cNvPr id="4" name="rule-27">
            <a:extLst xmlns:a="http://schemas.openxmlformats.org/drawingml/2006/main">
              <a:ext uri="{FF2B5EF4-FFF2-40B4-BE49-F238E27FC236}">
                <a16:creationId xmlns:a16="http://schemas.microsoft.com/office/drawing/2014/main" id="{75EF95D2-5115-4FB6-AEA5-E7FABDA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60733C37-E5C2-4A5F-B3B3-E3DE3FD4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艾因哈德《查理大帝传》28、30页（PDF 37、39）；Nelson, King and Emperor, PDF 405—408、480—481页。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71BEE63C-1085-4F5F-9C61-6D0F5C3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33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EC7205DD-4187-4A63-B9FB-1C44D240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在罗马接受加冕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E1ACD68C-7452-4C17-84AB-E94DE091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以皇帝身份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统治不同地区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259559E0-0555-45A2-980C-D394C7AD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62125"/>
            <a:ext cx="333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亚琛</a:t>
            </a:r>
          </a:p>
        </p:txBody>
      </p:sp>
      <p:sp>
        <p:nvSpPr>
          <p:cNvPr id="10" name="text-33">
            <a:extLst xmlns:a="http://schemas.openxmlformats.org/drawingml/2006/main">
              <a:ext uri="{FF2B5EF4-FFF2-40B4-BE49-F238E27FC236}">
                <a16:creationId xmlns:a16="http://schemas.microsoft.com/office/drawing/2014/main" id="{D54172CF-0A5A-4B50-8ACF-8D774BDF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051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修建礼拜堂</a:t>
            </a:r>
          </a:p>
        </p:txBody>
      </p:sp>
      <p:sp>
        <p:nvSpPr>
          <p:cNvPr id="11" name="text-34">
            <a:extLst xmlns:a="http://schemas.openxmlformats.org/drawingml/2006/main">
              <a:ext uri="{FF2B5EF4-FFF2-40B4-BE49-F238E27FC236}">
                <a16:creationId xmlns:a16="http://schemas.microsoft.com/office/drawing/2014/main" id="{620DC397-3370-429B-97D4-860037CC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0520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从罗马和拉文纳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运来柱子及大理石</a:t>
            </a:r>
          </a:p>
        </p:txBody>
      </p:sp>
      <p:sp>
        <p:nvSpPr>
          <p:cNvPr id="12" name="text-35">
            <a:extLst xmlns:a="http://schemas.openxmlformats.org/drawingml/2006/main">
              <a:ext uri="{FF2B5EF4-FFF2-40B4-BE49-F238E27FC236}">
                <a16:creationId xmlns:a16="http://schemas.microsoft.com/office/drawing/2014/main" id="{18B4A287-6640-4D9A-912A-E7E39C2A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33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812</a:t>
            </a:r>
          </a:p>
        </p:txBody>
      </p:sp>
      <p:sp>
        <p:nvSpPr>
          <p:cNvPr id="13" name="text-36">
            <a:extLst xmlns:a="http://schemas.openxmlformats.org/drawingml/2006/main">
              <a:ext uri="{FF2B5EF4-FFF2-40B4-BE49-F238E27FC236}">
                <a16:creationId xmlns:a16="http://schemas.microsoft.com/office/drawing/2014/main" id="{044D667E-B856-4A04-9481-93458289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东方承认皇帝地位</a:t>
            </a:r>
          </a:p>
        </p:txBody>
      </p:sp>
      <p:sp>
        <p:nvSpPr>
          <p:cNvPr id="14" name="text-37">
            <a:extLst xmlns:a="http://schemas.openxmlformats.org/drawingml/2006/main">
              <a:ext uri="{FF2B5EF4-FFF2-40B4-BE49-F238E27FC236}">
                <a16:creationId xmlns:a16="http://schemas.microsoft.com/office/drawing/2014/main" id="{0A4CA15D-5F2E-49CA-BB23-BCC9FB03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东西方两个皇帝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达成政治妥协</a:t>
            </a:r>
          </a:p>
        </p:txBody>
      </p:sp>
      <p:sp>
        <p:nvSpPr>
          <p:cNvPr id="15" name="text-38">
            <a:extLst xmlns:a="http://schemas.openxmlformats.org/drawingml/2006/main">
              <a:ext uri="{FF2B5EF4-FFF2-40B4-BE49-F238E27FC236}">
                <a16:creationId xmlns:a16="http://schemas.microsoft.com/office/drawing/2014/main" id="{629AF88A-F929-4613-BF59-D03E15D8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他借用罗马的称号、仪式和建筑，确立自己的皇帝身份。</a:t>
            </a:r>
          </a:p>
        </p:txBody>
      </p:sp>
    </p:spTree>
    <p:extLst>
      <p:ext uri="{BB962C8B-B14F-4D97-AF65-F5344CB8AC3E}">
        <p14:creationId xmlns:p14="http://schemas.microsoft.com/office/powerpoint/2010/main" val="391750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9">
            <a:extLst xmlns:a="http://schemas.openxmlformats.org/drawingml/2006/main">
              <a:ext uri="{FF2B5EF4-FFF2-40B4-BE49-F238E27FC236}">
                <a16:creationId xmlns:a16="http://schemas.microsoft.com/office/drawing/2014/main" id="{D8178D84-AD8C-472F-AA9E-20C16514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军事征服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B42D26DB-C3D4-47DD-AD55-93E76E3D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heading-4">
            <a:extLst xmlns:a="http://schemas.openxmlformats.org/drawingml/2006/main">
              <a:ext uri="{FF2B5EF4-FFF2-40B4-BE49-F238E27FC236}">
                <a16:creationId xmlns:a16="http://schemas.microsoft.com/office/drawing/2014/main" id="{5B328459-2772-4E28-B9AB-8274136F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领土扩大，地方治理也更加困难</a:t>
            </a:r>
          </a:p>
        </p:txBody>
      </p:sp>
      <p:sp>
        <p:nvSpPr>
          <p:cNvPr id="4" name="rule-41">
            <a:extLst xmlns:a="http://schemas.openxmlformats.org/drawingml/2006/main">
              <a:ext uri="{FF2B5EF4-FFF2-40B4-BE49-F238E27FC236}">
                <a16:creationId xmlns:a16="http://schemas.microsoft.com/office/drawing/2014/main" id="{DECA5486-225F-40FB-9ECC-956FBF01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3F0F0D43-29FA-4590-8C4A-ED6E58F2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艾因哈德《查理大帝传》10、12页；Nelson, King and Emperor, PDF 175页；地图：巴尔贝罗书前图（PDF 5）。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EE900-E97D-429D-B66D-73F8C4864D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c11e9a48243d8"/>
          <a:stretch xmlns:a="http://schemas.openxmlformats.org/drawingml/2006/main"/>
        </p:blipFill>
        <p:spPr>
          <a:xfrm xmlns:a="http://schemas.openxmlformats.org/drawingml/2006/main">
            <a:off x="1056894" y="1533525"/>
            <a:ext cx="3467862" cy="4295775"/>
          </a:xfrm>
          <a:prstGeom xmlns:a="http://schemas.openxmlformats.org/drawingml/2006/main" prst="rect">
            <a:avLst/>
          </a:prstGeom>
        </p:spPr>
      </p:pic>
      <p:sp>
        <p:nvSpPr>
          <p:cNvPr id="7" name="text-43">
            <a:extLst xmlns:a="http://schemas.openxmlformats.org/drawingml/2006/main">
              <a:ext uri="{FF2B5EF4-FFF2-40B4-BE49-F238E27FC236}">
                <a16:creationId xmlns:a16="http://schemas.microsoft.com/office/drawing/2014/main" id="{2133BC5D-D8D2-48DA-8C9C-3F825BDC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52600"/>
            <a:ext cx="609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774：征服伦巴第王国</a:t>
            </a:r>
          </a:p>
        </p:txBody>
      </p:sp>
      <p:sp>
        <p:nvSpPr>
          <p:cNvPr id="8" name="text-44">
            <a:extLst xmlns:a="http://schemas.openxmlformats.org/drawingml/2006/main">
              <a:ext uri="{FF2B5EF4-FFF2-40B4-BE49-F238E27FC236}">
                <a16:creationId xmlns:a16="http://schemas.microsoft.com/office/drawing/2014/main" id="{EF0BEDF3-CD46-4D36-A986-3F8C9951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43150"/>
            <a:ext cx="603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伦巴第人仍保留自己的法律和一些政治传统。</a:t>
            </a:r>
          </a:p>
        </p:txBody>
      </p:sp>
      <p:sp>
        <p:nvSpPr>
          <p:cNvPr id="9" name="text-45">
            <a:extLst xmlns:a="http://schemas.openxmlformats.org/drawingml/2006/main">
              <a:ext uri="{FF2B5EF4-FFF2-40B4-BE49-F238E27FC236}">
                <a16:creationId xmlns:a16="http://schemas.microsoft.com/office/drawing/2014/main" id="{10B5BC53-2129-46E1-88A5-C79D1A7B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71850"/>
            <a:ext cx="609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萨克森：战争与强制改宗</a:t>
            </a:r>
          </a:p>
        </p:txBody>
      </p:sp>
      <p:sp>
        <p:nvSpPr>
          <p:cNvPr id="10" name="text-46">
            <a:extLst xmlns:a="http://schemas.openxmlformats.org/drawingml/2006/main">
              <a:ext uri="{FF2B5EF4-FFF2-40B4-BE49-F238E27FC236}">
                <a16:creationId xmlns:a16="http://schemas.microsoft.com/office/drawing/2014/main" id="{C4516E80-8A58-44B6-8FA5-90676C3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62400"/>
            <a:ext cx="603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战争扩大了帝国，也伴随人口迁徙和强迫改宗。</a:t>
            </a:r>
          </a:p>
        </p:txBody>
      </p:sp>
      <p:sp>
        <p:nvSpPr>
          <p:cNvPr id="11" name="text-47">
            <a:extLst xmlns:a="http://schemas.openxmlformats.org/drawingml/2006/main">
              <a:ext uri="{FF2B5EF4-FFF2-40B4-BE49-F238E27FC236}">
                <a16:creationId xmlns:a16="http://schemas.microsoft.com/office/drawing/2014/main" id="{4922DC04-6E16-472D-A644-6AD8C93D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53025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君主怎样让各地都执行自己的命令？</a:t>
            </a:r>
          </a:p>
        </p:txBody>
      </p:sp>
    </p:spTree>
    <p:extLst>
      <p:ext uri="{BB962C8B-B14F-4D97-AF65-F5344CB8AC3E}">
        <p14:creationId xmlns:p14="http://schemas.microsoft.com/office/powerpoint/2010/main" val="1532716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8">
            <a:extLst xmlns:a="http://schemas.openxmlformats.org/drawingml/2006/main">
              <a:ext uri="{FF2B5EF4-FFF2-40B4-BE49-F238E27FC236}">
                <a16:creationId xmlns:a16="http://schemas.microsoft.com/office/drawing/2014/main" id="{D3A7AA50-B098-4435-879A-00485BD3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地方司法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F06817FF-96BE-4C8F-A246-5CEABA33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heading-5">
            <a:extLst xmlns:a="http://schemas.openxmlformats.org/drawingml/2006/main">
              <a:ext uri="{FF2B5EF4-FFF2-40B4-BE49-F238E27FC236}">
                <a16:creationId xmlns:a16="http://schemas.microsoft.com/office/drawing/2014/main" id="{49500A0F-CB2A-4854-BF66-368695DE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司法改革：监督伯爵，减轻出庭负担</a:t>
            </a:r>
          </a:p>
        </p:txBody>
      </p:sp>
      <p:sp>
        <p:nvSpPr>
          <p:cNvPr id="4" name="rule-50">
            <a:extLst xmlns:a="http://schemas.openxmlformats.org/drawingml/2006/main">
              <a:ext uri="{FF2B5EF4-FFF2-40B4-BE49-F238E27FC236}">
                <a16:creationId xmlns:a16="http://schemas.microsoft.com/office/drawing/2014/main" id="{5310B7F0-2007-4EBC-BFAC-B7D2D79A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51">
            <a:extLst xmlns:a="http://schemas.openxmlformats.org/drawingml/2006/main">
              <a:ext uri="{FF2B5EF4-FFF2-40B4-BE49-F238E27FC236}">
                <a16:creationId xmlns:a16="http://schemas.microsoft.com/office/drawing/2014/main" id="{903714FD-E3FD-48BB-855F-94FB52B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巴尔贝罗《查理大帝：欧洲之父》206—210页（PDF 215—219）；Nelson, King and Emperor, PDF 204页。</a:t>
            </a:r>
          </a:p>
        </p:txBody>
      </p:sp>
      <p:sp>
        <p:nvSpPr>
          <p:cNvPr id="6" name="text-52">
            <a:extLst xmlns:a="http://schemas.openxmlformats.org/drawingml/2006/main">
              <a:ext uri="{FF2B5EF4-FFF2-40B4-BE49-F238E27FC236}">
                <a16:creationId xmlns:a16="http://schemas.microsoft.com/office/drawing/2014/main" id="{FF3863B5-5CA0-4B01-AB5C-F9135860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666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监督地方</a:t>
            </a:r>
          </a:p>
        </p:txBody>
      </p:sp>
      <p:sp>
        <p:nvSpPr>
          <p:cNvPr id="7" name="text-53">
            <a:extLst xmlns:a="http://schemas.openxmlformats.org/drawingml/2006/main">
              <a:ext uri="{FF2B5EF4-FFF2-40B4-BE49-F238E27FC236}">
                <a16:creationId xmlns:a16="http://schemas.microsoft.com/office/drawing/2014/main" id="{59BC0483-5D7A-4D0B-87AF-F9645445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733550"/>
            <a:ext cx="895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巡察使介入司法</a:t>
            </a:r>
          </a:p>
        </p:txBody>
      </p:sp>
      <p:sp>
        <p:nvSpPr>
          <p:cNvPr id="8" name="text-54">
            <a:extLst xmlns:a="http://schemas.openxmlformats.org/drawingml/2006/main">
              <a:ext uri="{FF2B5EF4-FFF2-40B4-BE49-F238E27FC236}">
                <a16:creationId xmlns:a16="http://schemas.microsoft.com/office/drawing/2014/main" id="{5ACF24A3-DCAC-4D3C-9E39-88D0B89C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002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检查伯爵怎样办案，干预徇私和受贿</a:t>
            </a:r>
          </a:p>
        </p:txBody>
      </p:sp>
      <p:sp>
        <p:nvSpPr>
          <p:cNvPr id="9" name="rule-55">
            <a:extLst xmlns:a="http://schemas.openxmlformats.org/drawingml/2006/main">
              <a:ext uri="{FF2B5EF4-FFF2-40B4-BE49-F238E27FC236}">
                <a16:creationId xmlns:a16="http://schemas.microsoft.com/office/drawing/2014/main" id="{1469E867-1236-4B7A-93EB-E5FB663E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47950"/>
            <a:ext cx="9077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10" name="text-56">
            <a:extLst xmlns:a="http://schemas.openxmlformats.org/drawingml/2006/main">
              <a:ext uri="{FF2B5EF4-FFF2-40B4-BE49-F238E27FC236}">
                <a16:creationId xmlns:a16="http://schemas.microsoft.com/office/drawing/2014/main" id="{38CEC33C-C08E-4B94-BDF9-D3704FF2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666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固定人员</a:t>
            </a:r>
          </a:p>
        </p:txBody>
      </p:sp>
      <p:sp>
        <p:nvSpPr>
          <p:cNvPr id="11" name="text-57">
            <a:extLst xmlns:a="http://schemas.openxmlformats.org/drawingml/2006/main">
              <a:ext uri="{FF2B5EF4-FFF2-40B4-BE49-F238E27FC236}">
                <a16:creationId xmlns:a16="http://schemas.microsoft.com/office/drawing/2014/main" id="{41DAF457-1480-4854-AA95-0B662BB2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00350"/>
            <a:ext cx="895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固定审判辅助人员（scabini）</a:t>
            </a:r>
          </a:p>
        </p:txBody>
      </p:sp>
      <p:sp>
        <p:nvSpPr>
          <p:cNvPr id="12" name="text-58">
            <a:extLst xmlns:a="http://schemas.openxmlformats.org/drawingml/2006/main">
              <a:ext uri="{FF2B5EF4-FFF2-40B4-BE49-F238E27FC236}">
                <a16:creationId xmlns:a16="http://schemas.microsoft.com/office/drawing/2014/main" id="{E05A973B-0F81-40C7-9745-2EF19971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670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让经常参与审判的人积累法律知识和经验</a:t>
            </a:r>
          </a:p>
        </p:txBody>
      </p:sp>
      <p:sp>
        <p:nvSpPr>
          <p:cNvPr id="13" name="rule-59">
            <a:extLst xmlns:a="http://schemas.openxmlformats.org/drawingml/2006/main">
              <a:ext uri="{FF2B5EF4-FFF2-40B4-BE49-F238E27FC236}">
                <a16:creationId xmlns:a16="http://schemas.microsoft.com/office/drawing/2014/main" id="{B48AB3C0-5547-41D6-9BFF-52BC6C9A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714750"/>
            <a:ext cx="9077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14" name="text-60">
            <a:extLst xmlns:a="http://schemas.openxmlformats.org/drawingml/2006/main">
              <a:ext uri="{FF2B5EF4-FFF2-40B4-BE49-F238E27FC236}">
                <a16:creationId xmlns:a16="http://schemas.microsoft.com/office/drawing/2014/main" id="{11B81CFC-4588-48B7-8E1E-D7A1D65A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666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减轻负担</a:t>
            </a:r>
          </a:p>
        </p:txBody>
      </p:sp>
      <p:sp>
        <p:nvSpPr>
          <p:cNvPr id="15" name="text-61">
            <a:extLst xmlns:a="http://schemas.openxmlformats.org/drawingml/2006/main">
              <a:ext uri="{FF2B5EF4-FFF2-40B4-BE49-F238E27FC236}">
                <a16:creationId xmlns:a16="http://schemas.microsoft.com/office/drawing/2014/main" id="{F068575F-9734-458A-A93A-19E125F4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67150"/>
            <a:ext cx="895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809：减轻普通自由民出庭义务</a:t>
            </a:r>
          </a:p>
        </p:txBody>
      </p:sp>
      <p:sp>
        <p:nvSpPr>
          <p:cNvPr id="16" name="text-62">
            <a:extLst xmlns:a="http://schemas.openxmlformats.org/drawingml/2006/main">
              <a:ext uri="{FF2B5EF4-FFF2-40B4-BE49-F238E27FC236}">
                <a16:creationId xmlns:a16="http://schemas.microsoft.com/office/drawing/2014/main" id="{E6B78CBB-974A-430A-B743-20D48F38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338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普通人减少到场次数，由指定人员承担更多事务</a:t>
            </a:r>
          </a:p>
        </p:txBody>
      </p:sp>
      <p:sp>
        <p:nvSpPr>
          <p:cNvPr id="17" name="text-63">
            <a:extLst xmlns:a="http://schemas.openxmlformats.org/drawingml/2006/main">
              <a:ext uri="{FF2B5EF4-FFF2-40B4-BE49-F238E27FC236}">
                <a16:creationId xmlns:a16="http://schemas.microsoft.com/office/drawing/2014/main" id="{AF6B541F-D069-44B9-BA9A-3D59FDEA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伯爵仍有很大影响，改革的落实取决于地方上的配合。</a:t>
            </a:r>
          </a:p>
        </p:txBody>
      </p:sp>
    </p:spTree>
    <p:extLst>
      <p:ext uri="{BB962C8B-B14F-4D97-AF65-F5344CB8AC3E}">
        <p14:creationId xmlns:p14="http://schemas.microsoft.com/office/powerpoint/2010/main" val="1784349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63F6D2DE-E0D8-4E0E-8E2E-CBF58887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附庸关系</a:t>
            </a:r>
          </a:p>
        </p:txBody>
      </p:sp>
      <p:sp>
        <p:nvSpPr>
          <p:cNvPr id="2" name="text-65">
            <a:extLst xmlns:a="http://schemas.openxmlformats.org/drawingml/2006/main">
              <a:ext uri="{FF2B5EF4-FFF2-40B4-BE49-F238E27FC236}">
                <a16:creationId xmlns:a16="http://schemas.microsoft.com/office/drawing/2014/main" id="{75CCE5F8-B3C4-47AD-AF39-94CAAE0A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heading-6">
            <a:extLst xmlns:a="http://schemas.openxmlformats.org/drawingml/2006/main">
              <a:ext uri="{FF2B5EF4-FFF2-40B4-BE49-F238E27FC236}">
                <a16:creationId xmlns:a16="http://schemas.microsoft.com/office/drawing/2014/main" id="{36A2FC36-068A-4BC7-AC39-7620388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附庸关系怎样帮助查理曼统治</a:t>
            </a:r>
          </a:p>
        </p:txBody>
      </p:sp>
      <p:sp>
        <p:nvSpPr>
          <p:cNvPr id="4" name="rule-66">
            <a:extLst xmlns:a="http://schemas.openxmlformats.org/drawingml/2006/main">
              <a:ext uri="{FF2B5EF4-FFF2-40B4-BE49-F238E27FC236}">
                <a16:creationId xmlns:a16="http://schemas.microsoft.com/office/drawing/2014/main" id="{346A0B78-E52E-4ECD-9CC3-18C14420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514A7831-6EA5-4DBA-B1DE-6B05E3FE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布洛赫《封建社会》上卷266—269页（PDF 288—291）；巴尔贝罗《查理大帝：欧洲之父》146—149页。</a:t>
            </a: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6D0FC751-0F9F-40F2-87E9-B51444AB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048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臣民向君主宣誓</a:t>
            </a:r>
          </a:p>
        </p:txBody>
      </p: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0C662AD0-7D1F-40DB-A28C-A9F1AA4C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臣民对君主负有效忠义务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930B9BF7-26A6-402E-810F-004EADE0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048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领主与附庸的关系</a:t>
            </a:r>
          </a:p>
        </p:txBody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D4E940A6-CE1F-419B-A529-3418063E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附庸承诺服务，领主给予保护</a:t>
            </a:r>
          </a:p>
        </p:txBody>
      </p:sp>
      <p:sp>
        <p:nvSpPr>
          <p:cNvPr id="10" name="text-72">
            <a:extLst xmlns:a="http://schemas.openxmlformats.org/drawingml/2006/main">
              <a:ext uri="{FF2B5EF4-FFF2-40B4-BE49-F238E27FC236}">
                <a16:creationId xmlns:a16="http://schemas.microsoft.com/office/drawing/2014/main" id="{51050DEF-B4A2-43EF-AF25-604CFBF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76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1" name="rule-73">
            <a:extLst xmlns:a="http://schemas.openxmlformats.org/drawingml/2006/main">
              <a:ext uri="{FF2B5EF4-FFF2-40B4-BE49-F238E27FC236}">
                <a16:creationId xmlns:a16="http://schemas.microsoft.com/office/drawing/2014/main" id="{73C7805C-32F2-4B86-930C-0DB0E471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12" name="text-74">
            <a:extLst xmlns:a="http://schemas.openxmlformats.org/drawingml/2006/main">
              <a:ext uri="{FF2B5EF4-FFF2-40B4-BE49-F238E27FC236}">
                <a16:creationId xmlns:a16="http://schemas.microsoft.com/office/drawing/2014/main" id="{2939B539-A0CB-408C-8784-62859368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810年的规定（据布洛赫转述）</a:t>
            </a:r>
          </a:p>
        </p:txBody>
      </p:sp>
      <p:sp>
        <p:nvSpPr>
          <p:cNvPr id="13" name="text-75">
            <a:extLst xmlns:a="http://schemas.openxmlformats.org/drawingml/2006/main">
              <a:ext uri="{FF2B5EF4-FFF2-40B4-BE49-F238E27FC236}">
                <a16:creationId xmlns:a16="http://schemas.microsoft.com/office/drawing/2014/main" id="{1D11DF21-5CCC-4F3A-9897-98CCA38F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领主负责约束属从，使他们服从皇帝命令</a:t>
            </a:r>
          </a:p>
        </p:txBody>
      </p:sp>
      <p:sp>
        <p:nvSpPr>
          <p:cNvPr id="14" name="text-76">
            <a:extLst xmlns:a="http://schemas.openxmlformats.org/drawingml/2006/main">
              <a:ext uri="{FF2B5EF4-FFF2-40B4-BE49-F238E27FC236}">
                <a16:creationId xmlns:a16="http://schemas.microsoft.com/office/drawing/2014/main" id="{910F19FE-659F-48CD-ADAC-8D9001E2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君主能借领主召集人员，也必须争取他们的合作。</a:t>
            </a:r>
          </a:p>
        </p:txBody>
      </p:sp>
    </p:spTree>
    <p:extLst>
      <p:ext uri="{BB962C8B-B14F-4D97-AF65-F5344CB8AC3E}">
        <p14:creationId xmlns:p14="http://schemas.microsoft.com/office/powerpoint/2010/main" val="112843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7">
            <a:extLst xmlns:a="http://schemas.openxmlformats.org/drawingml/2006/main">
              <a:ext uri="{FF2B5EF4-FFF2-40B4-BE49-F238E27FC236}">
                <a16:creationId xmlns:a16="http://schemas.microsoft.com/office/drawing/2014/main" id="{C32EBE89-0C5F-4C79-8ADA-F10903C3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文化与政务</a:t>
            </a:r>
          </a:p>
        </p:txBody>
      </p:sp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BEBFF6FC-6D9A-40AD-B089-64032E54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heading-7">
            <a:extLst xmlns:a="http://schemas.openxmlformats.org/drawingml/2006/main">
              <a:ext uri="{FF2B5EF4-FFF2-40B4-BE49-F238E27FC236}">
                <a16:creationId xmlns:a16="http://schemas.microsoft.com/office/drawing/2014/main" id="{836762A6-53F0-48C2-AF38-29EB7A84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教育与书写改革怎样帮助治理</a:t>
            </a:r>
          </a:p>
        </p:txBody>
      </p:sp>
      <p:sp>
        <p:nvSpPr>
          <p:cNvPr id="4" name="rule-79">
            <a:extLst xmlns:a="http://schemas.openxmlformats.org/drawingml/2006/main">
              <a:ext uri="{FF2B5EF4-FFF2-40B4-BE49-F238E27FC236}">
                <a16:creationId xmlns:a16="http://schemas.microsoft.com/office/drawing/2014/main" id="{EDA8CD03-7B8E-4FB4-A157-448F198C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13ED493D-60AC-4701-A137-E180FFA6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巴尔贝罗《查理大帝：欧洲之父》231—237页（PDF 240—246）。</a:t>
            </a:r>
          </a:p>
        </p:txBody>
      </p:sp>
      <p:sp>
        <p:nvSpPr>
          <p:cNvPr id="6" name="text-81">
            <a:extLst xmlns:a="http://schemas.openxmlformats.org/drawingml/2006/main">
              <a:ext uri="{FF2B5EF4-FFF2-40B4-BE49-F238E27FC236}">
                <a16:creationId xmlns:a16="http://schemas.microsoft.com/office/drawing/2014/main" id="{B9B39D74-A9C0-4811-9D46-4D68CAA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762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教育与书写的变化</a:t>
            </a:r>
          </a:p>
        </p:txBody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F965427E-3BF7-471F-847C-ED22C3AC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667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要求教会办学，学习拉丁文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校订《圣经》与礼仪文本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清晰易读的小写字体逐渐传播</a:t>
            </a:r>
          </a:p>
        </p:txBody>
      </p:sp>
      <p:sp>
        <p:nvSpPr>
          <p:cNvPr id="8" name="text-83">
            <a:extLst xmlns:a="http://schemas.openxmlformats.org/drawingml/2006/main">
              <a:ext uri="{FF2B5EF4-FFF2-40B4-BE49-F238E27FC236}">
                <a16:creationId xmlns:a16="http://schemas.microsoft.com/office/drawing/2014/main" id="{737247CF-ACD0-419F-8CDA-5D1293A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762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与帝国治理的联系</a:t>
            </a:r>
          </a:p>
        </p:txBody>
      </p:sp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FC4E2538-6DBE-45C4-A705-1589621A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5238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培养能处理文书的教士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减少抄写错误，便于阅读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方便各地使用和传递文本</a:t>
            </a:r>
          </a:p>
        </p:txBody>
      </p:sp>
      <p:sp>
        <p:nvSpPr>
          <p:cNvPr id="10" name="text-85">
            <a:extLst xmlns:a="http://schemas.openxmlformats.org/drawingml/2006/main">
              <a:ext uri="{FF2B5EF4-FFF2-40B4-BE49-F238E27FC236}">
                <a16:creationId xmlns:a16="http://schemas.microsoft.com/office/drawing/2014/main" id="{7CA9D2A8-FB2C-4C8F-B962-920BE1E1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教会教育和书写规范，有助于各地交流和处理政务。</a:t>
            </a:r>
          </a:p>
        </p:txBody>
      </p:sp>
    </p:spTree>
    <p:extLst>
      <p:ext uri="{BB962C8B-B14F-4D97-AF65-F5344CB8AC3E}">
        <p14:creationId xmlns:p14="http://schemas.microsoft.com/office/powerpoint/2010/main" val="1475970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86">
            <a:extLst xmlns:a="http://schemas.openxmlformats.org/drawingml/2006/main">
              <a:ext uri="{FF2B5EF4-FFF2-40B4-BE49-F238E27FC236}">
                <a16:creationId xmlns:a16="http://schemas.microsoft.com/office/drawing/2014/main" id="{6F792EA1-49E4-4084-BBFA-F4D7AD84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地理重心</a:t>
            </a:r>
          </a:p>
        </p:txBody>
      </p:sp>
      <p:sp>
        <p:nvSpPr>
          <p:cNvPr id="2" name="text-87">
            <a:extLst xmlns:a="http://schemas.openxmlformats.org/drawingml/2006/main">
              <a:ext uri="{FF2B5EF4-FFF2-40B4-BE49-F238E27FC236}">
                <a16:creationId xmlns:a16="http://schemas.microsoft.com/office/drawing/2014/main" id="{B24BFDB1-B9E1-4327-8415-FECEED9F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heading-8">
            <a:extLst xmlns:a="http://schemas.openxmlformats.org/drawingml/2006/main">
              <a:ext uri="{FF2B5EF4-FFF2-40B4-BE49-F238E27FC236}">
                <a16:creationId xmlns:a16="http://schemas.microsoft.com/office/drawing/2014/main" id="{200F1C66-525C-4848-B14A-C56B5EE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查理曼帝国的重心在欧洲大陆</a:t>
            </a:r>
          </a:p>
        </p:txBody>
      </p:sp>
      <p:sp>
        <p:nvSpPr>
          <p:cNvPr id="4" name="rule-88">
            <a:extLst xmlns:a="http://schemas.openxmlformats.org/drawingml/2006/main">
              <a:ext uri="{FF2B5EF4-FFF2-40B4-BE49-F238E27FC236}">
                <a16:creationId xmlns:a16="http://schemas.microsoft.com/office/drawing/2014/main" id="{BA2EE742-20A0-40B3-A534-13780215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4258FC3C-52BB-4B9D-87F7-6C2D6537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巴尔贝罗《查理大帝：欧洲之父》113页（PDF 122）、229、234页；布洛赫《封建社会》上卷266—269页；Nelson, PDF 408、515页。</a:t>
            </a: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CBFEF221-F979-4D44-B716-80D0608F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古罗马</a:t>
            </a:r>
          </a:p>
        </p:txBody>
      </p:sp>
      <p:sp>
        <p:nvSpPr>
          <p:cNvPr id="7" name="text-91">
            <a:extLst xmlns:a="http://schemas.openxmlformats.org/drawingml/2006/main">
              <a:ext uri="{FF2B5EF4-FFF2-40B4-BE49-F238E27FC236}">
                <a16:creationId xmlns:a16="http://schemas.microsoft.com/office/drawing/2014/main" id="{74D54333-4FC3-43FA-8996-88801978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0225"/>
            <a:ext cx="83724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围绕地中海展开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领土跨越欧洲、北非和亚洲沿岸</a:t>
            </a:r>
          </a:p>
        </p:txBody>
      </p:sp>
      <p:sp>
        <p:nvSpPr>
          <p:cNvPr id="8" name="rule-92">
            <a:extLst xmlns:a="http://schemas.openxmlformats.org/drawingml/2006/main">
              <a:ext uri="{FF2B5EF4-FFF2-40B4-BE49-F238E27FC236}">
                <a16:creationId xmlns:a16="http://schemas.microsoft.com/office/drawing/2014/main" id="{B52DBD6F-FC53-4741-93CD-5493CA1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9" name="text-93">
            <a:extLst xmlns:a="http://schemas.openxmlformats.org/drawingml/2006/main">
              <a:ext uri="{FF2B5EF4-FFF2-40B4-BE49-F238E27FC236}">
                <a16:creationId xmlns:a16="http://schemas.microsoft.com/office/drawing/2014/main" id="{30A86A7C-F1C1-4A0A-800B-8238422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查理曼</a:t>
            </a:r>
          </a:p>
        </p:txBody>
      </p:sp>
      <p:sp>
        <p:nvSpPr>
          <p:cNvPr id="10" name="text-94">
            <a:extLst xmlns:a="http://schemas.openxmlformats.org/drawingml/2006/main">
              <a:ext uri="{FF2B5EF4-FFF2-40B4-BE49-F238E27FC236}">
                <a16:creationId xmlns:a16="http://schemas.microsoft.com/office/drawing/2014/main" id="{EEEC92E0-F2AD-4E76-90AA-E0E00714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29025"/>
            <a:ext cx="83724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以莱茵河流域为重心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连接西欧、中欧部分地区与意大利北部</a:t>
            </a:r>
          </a:p>
        </p:txBody>
      </p:sp>
      <p:sp>
        <p:nvSpPr>
          <p:cNvPr id="11" name="text-95">
            <a:extLst xmlns:a="http://schemas.openxmlformats.org/drawingml/2006/main">
              <a:ext uri="{FF2B5EF4-FFF2-40B4-BE49-F238E27FC236}">
                <a16:creationId xmlns:a16="http://schemas.microsoft.com/office/drawing/2014/main" id="{101F56AA-3C04-4B77-96A8-7B1329AD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“欧洲性”指这些地区的政治与文化联系，不能套用今天的欧洲边界。</a:t>
            </a:r>
          </a:p>
        </p:txBody>
      </p:sp>
    </p:spTree>
    <p:extLst>
      <p:ext uri="{BB962C8B-B14F-4D97-AF65-F5344CB8AC3E}">
        <p14:creationId xmlns:p14="http://schemas.microsoft.com/office/powerpoint/2010/main" val="10371074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6">
            <a:extLst xmlns:a="http://schemas.openxmlformats.org/drawingml/2006/main">
              <a:ext uri="{FF2B5EF4-FFF2-40B4-BE49-F238E27FC236}">
                <a16:creationId xmlns:a16="http://schemas.microsoft.com/office/drawing/2014/main" id="{CD97A67C-D6CA-46AE-9198-902725AB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比较与判断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7D5EC5A6-1785-42A5-88BF-6988D719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heading-9">
            <a:extLst xmlns:a="http://schemas.openxmlformats.org/drawingml/2006/main">
              <a:ext uri="{FF2B5EF4-FFF2-40B4-BE49-F238E27FC236}">
                <a16:creationId xmlns:a16="http://schemas.microsoft.com/office/drawing/2014/main" id="{6BEF4E50-C05D-4262-8EDE-15973577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罗马传统如何在新环境中延续</a:t>
            </a:r>
          </a:p>
        </p:txBody>
      </p:sp>
      <p:sp>
        <p:nvSpPr>
          <p:cNvPr id="4" name="rule-98">
            <a:extLst xmlns:a="http://schemas.openxmlformats.org/drawingml/2006/main">
              <a:ext uri="{FF2B5EF4-FFF2-40B4-BE49-F238E27FC236}">
                <a16:creationId xmlns:a16="http://schemas.microsoft.com/office/drawing/2014/main" id="{30676A92-5DA3-42B4-8482-9F177B38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99">
            <a:extLst xmlns:a="http://schemas.openxmlformats.org/drawingml/2006/main">
              <a:ext uri="{FF2B5EF4-FFF2-40B4-BE49-F238E27FC236}">
                <a16:creationId xmlns:a16="http://schemas.microsoft.com/office/drawing/2014/main" id="{508EDE70-FA49-443A-BEA0-30086E3B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综合：艾因哈德《查理大帝传》28、30页；巴尔贝罗《查理大帝：欧洲之父》113、206—210、229页；布洛赫《封建社会》上卷266—269页。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4B14D-F746-4FC0-AE40-61963782F6C8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3667125"/>
                <a:gridCol w="5591175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比较内容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继承的罗马传统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查理曼的具体做法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皇帝身份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皇帝称号与基督教帝国理想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C9C4B9"/>
                      </a:solidFill>
                      <a:prstDash val="solid"/>
                    </a:lnR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接受加冕，同时保留法兰克与伦巴第王权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C9C4B9"/>
                      </a:solidFill>
                      <a:prstDash val="solid"/>
                    </a:lnR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地方司法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君主有维护正义的责任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C9C4B9"/>
                      </a:solidFill>
                      <a:prstDash val="solid"/>
                    </a:lnR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巡察使监督伯爵，固定人员辅助审判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C9C4B9"/>
                      </a:solidFill>
                      <a:prstDash val="solid"/>
                    </a:lnR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政务与征兵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教会参与帝国事务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C9C4B9"/>
                      </a:solidFill>
                      <a:prstDash val="solid"/>
                    </a:lnR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借领主召集人员，依靠教士处理文书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C9C4B9"/>
                      </a:solidFill>
                      <a:prstDash val="solid"/>
                    </a:lnR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676E4651-4A91-48D9-B25F-FE4FF3F0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罗马皇帝的理想，在法兰克社会中有了不同的实现方式。</a:t>
            </a:r>
          </a:p>
        </p:txBody>
      </p:sp>
    </p:spTree>
    <p:extLst>
      <p:ext uri="{BB962C8B-B14F-4D97-AF65-F5344CB8AC3E}">
        <p14:creationId xmlns:p14="http://schemas.microsoft.com/office/powerpoint/2010/main" val="315892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01">
            <a:extLst xmlns:a="http://schemas.openxmlformats.org/drawingml/2006/main">
              <a:ext uri="{FF2B5EF4-FFF2-40B4-BE49-F238E27FC236}">
                <a16:creationId xmlns:a16="http://schemas.microsoft.com/office/drawing/2014/main" id="{CF6F0C90-16FF-4D87-B5C5-728F4308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结论</a:t>
            </a:r>
          </a:p>
        </p:txBody>
      </p:sp>
      <p:sp>
        <p:nvSpPr>
          <p:cNvPr id="2" name="text-102">
            <a:extLst xmlns:a="http://schemas.openxmlformats.org/drawingml/2006/main">
              <a:ext uri="{FF2B5EF4-FFF2-40B4-BE49-F238E27FC236}">
                <a16:creationId xmlns:a16="http://schemas.microsoft.com/office/drawing/2014/main" id="{D394B6C6-374F-4676-9D7E-AB5A9A37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heading-10">
            <a:extLst xmlns:a="http://schemas.openxmlformats.org/drawingml/2006/main">
              <a:ext uri="{FF2B5EF4-FFF2-40B4-BE49-F238E27FC236}">
                <a16:creationId xmlns:a16="http://schemas.microsoft.com/office/drawing/2014/main" id="{325A10CB-ABF1-47D1-8F94-495D9F88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我们更倾向于称他为新型欧洲君主</a:t>
            </a:r>
          </a:p>
        </p:txBody>
      </p:sp>
      <p:sp>
        <p:nvSpPr>
          <p:cNvPr id="4" name="rule-103">
            <a:extLst xmlns:a="http://schemas.openxmlformats.org/drawingml/2006/main">
              <a:ext uri="{FF2B5EF4-FFF2-40B4-BE49-F238E27FC236}">
                <a16:creationId xmlns:a16="http://schemas.microsoft.com/office/drawing/2014/main" id="{90FB13DE-7552-40F5-8BCB-904B4EF4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104">
            <a:extLst xmlns:a="http://schemas.openxmlformats.org/drawingml/2006/main">
              <a:ext uri="{FF2B5EF4-FFF2-40B4-BE49-F238E27FC236}">
                <a16:creationId xmlns:a16="http://schemas.microsoft.com/office/drawing/2014/main" id="{0B3D0BE9-DCCC-4EE1-BCB4-87E0F47B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艾因哈德《查理大帝传》10—12页；巴尔贝罗《查理大帝：欧洲之父》113、206—210、231—237页；布洛赫《封建社会》上卷266—269页；皮朗《穆罕默德和查理曼》290页（PDF 322）。</a:t>
            </a:r>
          </a:p>
        </p:txBody>
      </p:sp>
      <p:sp>
        <p:nvSpPr>
          <p:cNvPr id="6" name="text-105">
            <a:extLst xmlns:a="http://schemas.openxmlformats.org/drawingml/2006/main">
              <a:ext uri="{FF2B5EF4-FFF2-40B4-BE49-F238E27FC236}">
                <a16:creationId xmlns:a16="http://schemas.microsoft.com/office/drawing/2014/main" id="{E2813655-2B52-42AB-9666-B18F6326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军事征服</a:t>
            </a:r>
          </a:p>
        </p:txBody>
      </p:sp>
      <p:sp>
        <p:nvSpPr>
          <p:cNvPr id="7" name="text-106">
            <a:extLst xmlns:a="http://schemas.openxmlformats.org/drawingml/2006/main">
              <a:ext uri="{FF2B5EF4-FFF2-40B4-BE49-F238E27FC236}">
                <a16:creationId xmlns:a16="http://schemas.microsoft.com/office/drawing/2014/main" id="{6101F2F5-73E2-4B18-A656-4DD77DBA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333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扩大领土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把多个地区纳入统治</a:t>
            </a:r>
          </a:p>
        </p:txBody>
      </p:sp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B109F5F2-682B-461C-A8E5-71232CF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地方治理</a:t>
            </a:r>
          </a:p>
        </p:txBody>
      </p:sp>
      <p:sp>
        <p:nvSpPr>
          <p:cNvPr id="9" name="text-108">
            <a:extLst xmlns:a="http://schemas.openxmlformats.org/drawingml/2006/main">
              <a:ext uri="{FF2B5EF4-FFF2-40B4-BE49-F238E27FC236}">
                <a16:creationId xmlns:a16="http://schemas.microsoft.com/office/drawing/2014/main" id="{0866720F-C336-4495-B45A-59F38E72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38400"/>
            <a:ext cx="3333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监督伯爵审判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借领主召集人员</a:t>
            </a:r>
          </a:p>
        </p:txBody>
      </p:sp>
      <p:sp>
        <p:nvSpPr>
          <p:cNvPr id="10" name="text-109">
            <a:extLst xmlns:a="http://schemas.openxmlformats.org/drawingml/2006/main">
              <a:ext uri="{FF2B5EF4-FFF2-40B4-BE49-F238E27FC236}">
                <a16:creationId xmlns:a16="http://schemas.microsoft.com/office/drawing/2014/main" id="{E48DDBC2-C0A1-4595-B637-65B8C45D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文化教育</a:t>
            </a:r>
          </a:p>
        </p:txBody>
      </p:sp>
      <p:sp>
        <p:nvSpPr>
          <p:cNvPr id="11" name="text-110">
            <a:extLst xmlns:a="http://schemas.openxmlformats.org/drawingml/2006/main">
              <a:ext uri="{FF2B5EF4-FFF2-40B4-BE49-F238E27FC236}">
                <a16:creationId xmlns:a16="http://schemas.microsoft.com/office/drawing/2014/main" id="{09E3C380-85EC-4251-9FB9-26F4C9B4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3333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支持教育和书籍抄写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文化影响在分裂后延续</a:t>
            </a:r>
          </a:p>
        </p:txBody>
      </p:sp>
      <p:sp>
        <p:nvSpPr>
          <p:cNvPr id="12" name="rule-111">
            <a:extLst xmlns:a="http://schemas.openxmlformats.org/drawingml/2006/main">
              <a:ext uri="{FF2B5EF4-FFF2-40B4-BE49-F238E27FC236}">
                <a16:creationId xmlns:a16="http://schemas.microsoft.com/office/drawing/2014/main" id="{60A79748-1C79-46EB-86D8-4BE2512F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13" name="text-112">
            <a:extLst xmlns:a="http://schemas.openxmlformats.org/drawingml/2006/main">
              <a:ext uri="{FF2B5EF4-FFF2-40B4-BE49-F238E27FC236}">
                <a16:creationId xmlns:a16="http://schemas.microsoft.com/office/drawing/2014/main" id="{2E9973CB-21B3-4ECE-99D4-C7D25B4D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他继承了罗马的皇帝理想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也依靠地方贵族和教会治理帝国</a:t>
            </a:r>
          </a:p>
        </p:txBody>
      </p:sp>
    </p:spTree>
    <p:extLst>
      <p:ext uri="{BB962C8B-B14F-4D97-AF65-F5344CB8AC3E}">
        <p14:creationId xmlns:p14="http://schemas.microsoft.com/office/powerpoint/2010/main" val="299105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13">
            <a:extLst xmlns:a="http://schemas.openxmlformats.org/drawingml/2006/main">
              <a:ext uri="{FF2B5EF4-FFF2-40B4-BE49-F238E27FC236}">
                <a16:creationId xmlns:a16="http://schemas.microsoft.com/office/drawing/2014/main" id="{289B1E7C-276C-487A-8B07-1DDDFB28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附录 · 书目</a:t>
            </a:r>
          </a:p>
        </p:txBody>
      </p:sp>
      <p:sp>
        <p:nvSpPr>
          <p:cNvPr id="2" name="text-114">
            <a:extLst xmlns:a="http://schemas.openxmlformats.org/drawingml/2006/main">
              <a:ext uri="{FF2B5EF4-FFF2-40B4-BE49-F238E27FC236}">
                <a16:creationId xmlns:a16="http://schemas.microsoft.com/office/drawing/2014/main" id="{B1AAFEBF-A3CF-44BC-82B4-C1F400B3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heading-11">
            <a:extLst xmlns:a="http://schemas.openxmlformats.org/drawingml/2006/main">
              <a:ext uri="{FF2B5EF4-FFF2-40B4-BE49-F238E27FC236}">
                <a16:creationId xmlns:a16="http://schemas.microsoft.com/office/drawing/2014/main" id="{D9EA11AC-4D9B-4E5C-9495-3C4A6309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参考书目与页码说明</a:t>
            </a:r>
          </a:p>
        </p:txBody>
      </p:sp>
      <p:sp>
        <p:nvSpPr>
          <p:cNvPr id="4" name="rule-115">
            <a:extLst xmlns:a="http://schemas.openxmlformats.org/drawingml/2006/main">
              <a:ext uri="{FF2B5EF4-FFF2-40B4-BE49-F238E27FC236}">
                <a16:creationId xmlns:a16="http://schemas.microsoft.com/office/drawing/2014/main" id="{36388BAA-ABAF-450C-A926-3FDC4CBD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D947860F-524F-423A-A2D4-0E8C591A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本页所列书目均来自本组课程资料文件夹；每页页脚保留对应书名及定位页码。</a:t>
            </a:r>
          </a:p>
        </p:txBody>
      </p:sp>
      <p:sp>
        <p:nvSpPr>
          <p:cNvPr id="6" name="text-117">
            <a:extLst xmlns:a="http://schemas.openxmlformats.org/drawingml/2006/main">
              <a:ext uri="{FF2B5EF4-FFF2-40B4-BE49-F238E27FC236}">
                <a16:creationId xmlns:a16="http://schemas.microsoft.com/office/drawing/2014/main" id="{51A7C227-D0A3-48B1-A782-D197FC00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艾因哈德《查理大帝传》</a:t>
            </a:r>
          </a:p>
        </p:txBody>
      </p:sp>
      <p:sp>
        <p:nvSpPr>
          <p:cNvPr id="7" name="text-118">
            <a:extLst xmlns:a="http://schemas.openxmlformats.org/drawingml/2006/main">
              <a:ext uri="{FF2B5EF4-FFF2-40B4-BE49-F238E27FC236}">
                <a16:creationId xmlns:a16="http://schemas.microsoft.com/office/drawing/2014/main" id="{D994B48C-608D-439D-9832-1B7CB0F7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10—12、28—31页（PDF 19—21、37—40）</a:t>
            </a:r>
          </a:p>
        </p:txBody>
      </p:sp>
      <p:sp>
        <p:nvSpPr>
          <p:cNvPr id="8" name="text-119">
            <a:extLst xmlns:a="http://schemas.openxmlformats.org/drawingml/2006/main">
              <a:ext uri="{FF2B5EF4-FFF2-40B4-BE49-F238E27FC236}">
                <a16:creationId xmlns:a16="http://schemas.microsoft.com/office/drawing/2014/main" id="{E2FE95A5-C53C-4BFE-8C74-2B5EC397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巴尔贝罗《查理大帝：欧洲之父》</a:t>
            </a:r>
          </a:p>
        </p:txBody>
      </p:sp>
      <p:sp>
        <p:nvSpPr>
          <p:cNvPr id="9" name="text-120">
            <a:extLst xmlns:a="http://schemas.openxmlformats.org/drawingml/2006/main">
              <a:ext uri="{FF2B5EF4-FFF2-40B4-BE49-F238E27FC236}">
                <a16:creationId xmlns:a16="http://schemas.microsoft.com/office/drawing/2014/main" id="{08A7810D-9249-4E46-9D21-BA386AF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113、146—149、206—210、229、231—237、271—272页（PDF＝书内页＋9）</a:t>
            </a:r>
          </a:p>
        </p:txBody>
      </p:sp>
      <p:sp>
        <p:nvSpPr>
          <p:cNvPr id="10" name="text-121">
            <a:extLst xmlns:a="http://schemas.openxmlformats.org/drawingml/2006/main">
              <a:ext uri="{FF2B5EF4-FFF2-40B4-BE49-F238E27FC236}">
                <a16:creationId xmlns:a16="http://schemas.microsoft.com/office/drawing/2014/main" id="{E0A4D83A-E549-4823-A390-5BC61231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布洛赫《封建社会》上卷</a:t>
            </a:r>
          </a:p>
        </p:txBody>
      </p:sp>
      <p:sp>
        <p:nvSpPr>
          <p:cNvPr id="11" name="text-122">
            <a:extLst xmlns:a="http://schemas.openxmlformats.org/drawingml/2006/main">
              <a:ext uri="{FF2B5EF4-FFF2-40B4-BE49-F238E27FC236}">
                <a16:creationId xmlns:a16="http://schemas.microsoft.com/office/drawing/2014/main" id="{CC4981B1-EC24-4417-817A-CCC6609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266—269页（合并PDF 288—291）</a:t>
            </a:r>
          </a:p>
        </p:txBody>
      </p:sp>
      <p:sp>
        <p:nvSpPr>
          <p:cNvPr id="12" name="text-123">
            <a:extLst xmlns:a="http://schemas.openxmlformats.org/drawingml/2006/main">
              <a:ext uri="{FF2B5EF4-FFF2-40B4-BE49-F238E27FC236}">
                <a16:creationId xmlns:a16="http://schemas.microsoft.com/office/drawing/2014/main" id="{D6D4A1C1-CA2E-423C-92DD-2A34D43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Janet L. Nelson, King and Emperor: A New Life of Charlemagne</a:t>
            </a:r>
          </a:p>
        </p:txBody>
      </p:sp>
      <p:sp>
        <p:nvSpPr>
          <p:cNvPr id="13" name="text-124">
            <a:extLst xmlns:a="http://schemas.openxmlformats.org/drawingml/2006/main">
              <a:ext uri="{FF2B5EF4-FFF2-40B4-BE49-F238E27FC236}">
                <a16:creationId xmlns:a16="http://schemas.microsoft.com/office/drawing/2014/main" id="{EFDA4D45-7D80-45D1-84BF-15C6E26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PDF 175、204、405—408、480—481、497—498、515页</a:t>
            </a:r>
          </a:p>
        </p:txBody>
      </p:sp>
      <p:sp>
        <p:nvSpPr>
          <p:cNvPr id="14" name="text-125">
            <a:extLst xmlns:a="http://schemas.openxmlformats.org/drawingml/2006/main">
              <a:ext uri="{FF2B5EF4-FFF2-40B4-BE49-F238E27FC236}">
                <a16:creationId xmlns:a16="http://schemas.microsoft.com/office/drawing/2014/main" id="{BE7EF4E9-3167-4AEB-99BD-199F1217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皮朗《穆罕默德和查理曼》</a:t>
            </a:r>
          </a:p>
        </p:txBody>
      </p:sp>
      <p:sp>
        <p:nvSpPr>
          <p:cNvPr id="15" name="text-126">
            <a:extLst xmlns:a="http://schemas.openxmlformats.org/drawingml/2006/main">
              <a:ext uri="{FF2B5EF4-FFF2-40B4-BE49-F238E27FC236}">
                <a16:creationId xmlns:a16="http://schemas.microsoft.com/office/drawing/2014/main" id="{ED26B4EA-59DD-4F4A-9ECE-1DF72DBF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290页（PDF 322）：文化延续；译者前言4页（PDF 10）：经济解释的争议</a:t>
            </a:r>
          </a:p>
        </p:txBody>
      </p:sp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32148911-EDA0-419E-ABCC-A389752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页码以课程所供版本为准；中文书默认书内页码，Nelson采用PDF顺序页码（从1计）。</a:t>
            </a:r>
          </a:p>
        </p:txBody>
      </p:sp>
    </p:spTree>
    <p:extLst>
      <p:ext uri="{BB962C8B-B14F-4D97-AF65-F5344CB8AC3E}">
        <p14:creationId xmlns:p14="http://schemas.microsoft.com/office/powerpoint/2010/main" val="14039845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28">
            <a:extLst xmlns:a="http://schemas.openxmlformats.org/drawingml/2006/main">
              <a:ext uri="{FF2B5EF4-FFF2-40B4-BE49-F238E27FC236}">
                <a16:creationId xmlns:a16="http://schemas.microsoft.com/office/drawing/2014/main" id="{3CEAE07A-6CB2-44DD-A491-6DD048C3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附录 · 答辩备用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4A9D0A7D-FFAB-42B8-9AC0-0E886374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heading-12">
            <a:extLst xmlns:a="http://schemas.openxmlformats.org/drawingml/2006/main">
              <a:ext uri="{FF2B5EF4-FFF2-40B4-BE49-F238E27FC236}">
                <a16:creationId xmlns:a16="http://schemas.microsoft.com/office/drawing/2014/main" id="{F9A83EB2-97F2-44A1-B6C4-5A6969EC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庄园经济是否完全封闭</a:t>
            </a:r>
          </a:p>
        </p:txBody>
      </p:sp>
      <p:sp>
        <p:nvSpPr>
          <p:cNvPr id="4" name="rule-130">
            <a:extLst xmlns:a="http://schemas.openxmlformats.org/drawingml/2006/main">
              <a:ext uri="{FF2B5EF4-FFF2-40B4-BE49-F238E27FC236}">
                <a16:creationId xmlns:a16="http://schemas.microsoft.com/office/drawing/2014/main" id="{85F03214-9B62-4BB7-8C77-10B1D48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</p:sp>
      <p:sp>
        <p:nvSpPr>
          <p:cNvPr id="5" name="text-131">
            <a:extLst xmlns:a="http://schemas.openxmlformats.org/drawingml/2006/main">
              <a:ext uri="{FF2B5EF4-FFF2-40B4-BE49-F238E27FC236}">
                <a16:creationId xmlns:a16="http://schemas.microsoft.com/office/drawing/2014/main" id="{1A093899-46F8-4725-8180-614FC7DC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巴尔贝罗《查理大帝：欧洲之父》271—272页（PDF 280—281）；对照：皮朗《穆罕默德和查理曼》译者前言4页（PDF 10）。</a:t>
            </a:r>
          </a:p>
        </p:txBody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2AC8B323-AD5A-42F0-A56A-498C9E8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庄园生产与市场交换可以并存</a:t>
            </a:r>
          </a:p>
        </p:txBody>
      </p:sp>
      <p:sp>
        <p:nvSpPr>
          <p:cNvPr id="7" name="text-133">
            <a:extLst xmlns:a="http://schemas.openxmlformats.org/drawingml/2006/main">
              <a:ext uri="{FF2B5EF4-FFF2-40B4-BE49-F238E27FC236}">
                <a16:creationId xmlns:a16="http://schemas.microsoft.com/office/drawing/2014/main" id="{AA88A811-B45B-46DD-B863-3597C086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762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书中的证据</a:t>
            </a:r>
          </a:p>
        </p:txBody>
      </p:sp>
      <p:sp>
        <p:nvSpPr>
          <p:cNvPr id="8" name="text-134">
            <a:extLst xmlns:a="http://schemas.openxmlformats.org/drawingml/2006/main">
              <a:ext uri="{FF2B5EF4-FFF2-40B4-BE49-F238E27FC236}">
                <a16:creationId xmlns:a16="http://schemas.microsoft.com/office/drawing/2014/main" id="{9D64B1B4-21BD-4A35-956D-A6E62AE2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庄园可能生产盈余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交换与市场并未消失</a:t>
            </a:r>
          </a:p>
        </p:txBody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7AE03D83-84CD-403B-9219-ABD02CC4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762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对我们论证的帮助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FD0D7FF0-5D80-4ED5-BCCC-4B6058F6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521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说明帝国如何取得资源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不足以单独判断君主的性质</a:t>
            </a:r>
          </a:p>
        </p:txBody>
      </p:sp>
      <p:sp>
        <p:nvSpPr>
          <p:cNvPr id="11" name="text-137">
            <a:extLst xmlns:a="http://schemas.openxmlformats.org/drawingml/2006/main">
              <a:ext uri="{FF2B5EF4-FFF2-40B4-BE49-F238E27FC236}">
                <a16:creationId xmlns:a16="http://schemas.microsoft.com/office/drawing/2014/main" id="{3978374C-B668-4B86-A4D8-F9BD697B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皮朗的解释仍有争议，经济材料在这里作为补充。</a:t>
            </a:r>
          </a:p>
        </p:txBody>
      </p:sp>
    </p:spTree>
    <p:extLst>
      <p:ext uri="{BB962C8B-B14F-4D97-AF65-F5344CB8AC3E}">
        <p14:creationId xmlns:p14="http://schemas.microsoft.com/office/powerpoint/2010/main" val="1628739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2026-10-28T06:06:49.8980000Z</dcterms:created>
  <dcterms:modified xsi:type="dcterms:W3CDTF">2026-10-28T06:06:49.8990000Z</dcterms:modified>
</coreProperties>
</file>