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7bac3fd429493e" /><Relationship Type="http://schemas.openxmlformats.org/officeDocument/2006/relationships/extended-properties" Target="/docProps/app.xml" Id="R9bef0ed089a04806" /><Relationship Type="http://schemas.openxmlformats.org/officeDocument/2006/relationships/officeDocument" Target="/ppt/presentation.xml" Id="Rb68639cf09284a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5b2563b7864e69"/>
  </p:sldMasterIdLst>
  <p:notesMasterIdLst>
    <p:notesMasterId xmlns:r="http://schemas.openxmlformats.org/officeDocument/2006/relationships" r:id="R3392efa1d17642bb"/>
  </p:notesMasterIdLst>
  <p:sldIdLst>
    <p:sldId xmlns:r="http://schemas.openxmlformats.org/officeDocument/2006/relationships" id="256" r:id="R25dc8ff33ada4fe8"/>
    <p:sldId xmlns:r="http://schemas.openxmlformats.org/officeDocument/2006/relationships" id="257" r:id="R42b54415d39e4100"/>
    <p:sldId xmlns:r="http://schemas.openxmlformats.org/officeDocument/2006/relationships" id="258" r:id="R54bba78622794b8a"/>
    <p:sldId xmlns:r="http://schemas.openxmlformats.org/officeDocument/2006/relationships" id="259" r:id="R427f359d63cc4d71"/>
    <p:sldId xmlns:r="http://schemas.openxmlformats.org/officeDocument/2006/relationships" id="260" r:id="R0be3f8ff96844c7d"/>
    <p:sldId xmlns:r="http://schemas.openxmlformats.org/officeDocument/2006/relationships" id="261" r:id="Rcb53e54c6e264013"/>
    <p:sldId xmlns:r="http://schemas.openxmlformats.org/officeDocument/2006/relationships" id="262" r:id="R6447b5d95dec43f3"/>
    <p:sldId xmlns:r="http://schemas.openxmlformats.org/officeDocument/2006/relationships" id="263" r:id="Rba5b939426f14c93"/>
    <p:sldId xmlns:r="http://schemas.openxmlformats.org/officeDocument/2006/relationships" id="264" r:id="R2b494b57afc346d6"/>
    <p:sldId xmlns:r="http://schemas.openxmlformats.org/officeDocument/2006/relationships" id="265" r:id="Rb6d06d5831864299"/>
    <p:sldId xmlns:r="http://schemas.openxmlformats.org/officeDocument/2006/relationships" id="266" r:id="R31dae924bbdf443e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9e89f9d8204d7b" /><Relationship Type="http://schemas.openxmlformats.org/officeDocument/2006/relationships/slideMaster" Target="/ppt/slideMasters/slideMaster1.xml" Id="Rca5b2563b7864e69" /><Relationship Type="http://schemas.openxmlformats.org/officeDocument/2006/relationships/notesMaster" Target="/ppt/notesMasters/notesMaster1.xml" Id="R3392efa1d17642bb" /><Relationship Type="http://schemas.openxmlformats.org/officeDocument/2006/relationships/presProps" Target="/ppt/presProps.xml" Id="Rc6cdda1bcaca452c" /><Relationship Type="http://schemas.openxmlformats.org/officeDocument/2006/relationships/viewProps" Target="/ppt/viewProps.xml" Id="Rba3931b1c5234d0b" /><Relationship Type="http://schemas.openxmlformats.org/officeDocument/2006/relationships/tableStyles" Target="/ppt/tableStyles.xml" Id="Rbecccf49b4df4353" /><Relationship Type="http://schemas.openxmlformats.org/officeDocument/2006/relationships/slide" Target="/ppt/slides/slide1.xml" Id="R25dc8ff33ada4fe8" /><Relationship Type="http://schemas.openxmlformats.org/officeDocument/2006/relationships/slide" Target="/ppt/slides/slide2.xml" Id="R42b54415d39e4100" /><Relationship Type="http://schemas.openxmlformats.org/officeDocument/2006/relationships/slide" Target="/ppt/slides/slide3.xml" Id="R54bba78622794b8a" /><Relationship Type="http://schemas.openxmlformats.org/officeDocument/2006/relationships/slide" Target="/ppt/slides/slide4.xml" Id="R427f359d63cc4d71" /><Relationship Type="http://schemas.openxmlformats.org/officeDocument/2006/relationships/slide" Target="/ppt/slides/slide5.xml" Id="R0be3f8ff96844c7d" /><Relationship Type="http://schemas.openxmlformats.org/officeDocument/2006/relationships/slide" Target="/ppt/slides/slide6.xml" Id="Rcb53e54c6e264013" /><Relationship Type="http://schemas.openxmlformats.org/officeDocument/2006/relationships/slide" Target="/ppt/slides/slide7.xml" Id="R6447b5d95dec43f3" /><Relationship Type="http://schemas.openxmlformats.org/officeDocument/2006/relationships/slide" Target="/ppt/slides/slide8.xml" Id="Rba5b939426f14c93" /><Relationship Type="http://schemas.openxmlformats.org/officeDocument/2006/relationships/slide" Target="/ppt/slides/slide9.xml" Id="R2b494b57afc346d6" /><Relationship Type="http://schemas.openxmlformats.org/officeDocument/2006/relationships/slide" Target="/ppt/slides/slide10.xml" Id="Rb6d06d5831864299" /><Relationship Type="http://schemas.openxmlformats.org/officeDocument/2006/relationships/slide" Target="/ppt/slides/slide11.xml" Id="R31dae924bbdf44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eb004f889e4d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3abf1c28236402c" /><Relationship Type="http://schemas.openxmlformats.org/officeDocument/2006/relationships/notesMaster" Target="/ppt/notesMasters/notesMaster1.xml" Id="Rb148fbb9813847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718b13c0caf4503" /><Relationship Type="http://schemas.openxmlformats.org/officeDocument/2006/relationships/notesMaster" Target="/ppt/notesMasters/notesMaster1.xml" Id="R88cac36a6a664a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90f194c88c4b75" /><Relationship Type="http://schemas.openxmlformats.org/officeDocument/2006/relationships/notesMaster" Target="/ppt/notesMasters/notesMaster1.xml" Id="Rb6e6fe467edb47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2da0171e584c5f" /><Relationship Type="http://schemas.openxmlformats.org/officeDocument/2006/relationships/notesMaster" Target="/ppt/notesMasters/notesMaster1.xml" Id="R61045d59d77f4b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6365acd1584690" /><Relationship Type="http://schemas.openxmlformats.org/officeDocument/2006/relationships/notesMaster" Target="/ppt/notesMasters/notesMaster1.xml" Id="R6e8011b85cbc4e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5282af4a804c72" /><Relationship Type="http://schemas.openxmlformats.org/officeDocument/2006/relationships/notesMaster" Target="/ppt/notesMasters/notesMaster1.xml" Id="R8332c6f0a47a4c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cfcd9c3ea143ce" /><Relationship Type="http://schemas.openxmlformats.org/officeDocument/2006/relationships/notesMaster" Target="/ppt/notesMasters/notesMaster1.xml" Id="Rb7b7c74ae4064a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650298648b44c5" /><Relationship Type="http://schemas.openxmlformats.org/officeDocument/2006/relationships/notesMaster" Target="/ppt/notesMasters/notesMaster1.xml" Id="R92193972270044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5034e26a8c04b87" /><Relationship Type="http://schemas.openxmlformats.org/officeDocument/2006/relationships/notesMaster" Target="/ppt/notesMasters/notesMaster1.xml" Id="R7699b3a684344f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962d9b94c524ce1" /><Relationship Type="http://schemas.openxmlformats.org/officeDocument/2006/relationships/notesMaster" Target="/ppt/notesMasters/notesMaster1.xml" Id="R8b2c033f0e474a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d47ef33e2054d0a" /><Relationship Type="http://schemas.openxmlformats.org/officeDocument/2006/relationships/notesMaster" Target="/ppt/notesMasters/notesMaster1.xml" Id="R05fd462b598b46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查理曼：罗马皇帝，还是新型欧洲君主？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大家好。我们认为，查理曼是一位继承并运用罗马传统的新型欧洲君主。今天先说明罗马皇帝的性质，再介绍查理曼的主要功绩，最后从合法性、宫廷组成、宗教和权力关系四个方面作出比较。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参考：艾因哈德《查理大帝传》10—12、28—31页；巴尔贝罗《查理大帝：欧洲之父》113、206—210、231—239页；Nelson, King and Emperor, PDF 405—408页。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比较基准：晚期罗马皇帝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罗马皇帝的性质随着时代变化。我们主要以四、五世纪已经基督教化的罗马帝国为参照，这与查理曼继承的帝国理想和宗教传统联系最密切。皇帝首先是罗马帝国的最高统治者，拥有立法与最高裁判权，皇帝敕令是法律的重要来源。《狄奥多西法典》将敕令编入法典，体现了皇权与帝国法律的联系。帝位的稳定也与军队支持密切相关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从宫廷看，皇帝周围有高级官员和谘议机构，处理政务并联系地方。从宗教看，皇帝承担维护基督教秩序的职责，召集并参与教会会议。从权力关系看，他通过中央与地方官职，以及军队组织来执行命令。罗马皇帝的政治性质，就体现在他处于帝国法律、官职与基督教秩序的中心。接下来，我们用同样的标准分析查理曼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参考：《剑桥插图中世纪史》上册19—24页（PDF 26—31）；Nelson, King and Emperor, PDF 251页。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功绩一：扩大法兰克统治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第一项功绩是军事征服。774年，查理曼征服伦巴第王国，把意大利北部纳入统治。经过长期战争，他又征服萨克森，使西欧、中欧部分地区与意大利北部共同接受法兰克王权的统治。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地图显示，查理曼的政治重心位于欧洲大陆内陆。各地仍有自身的法律和传统，伦巴第就是一个例子。征服萨克森的过程还伴随着强迫改宗和人口迁移。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军事扩张为他取得皇帝地位提供了实力基础。领土扩大之后，加强地方监督、维持政治联系，就成为王权的重要任务。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参考：艾因哈德《查理大帝传》10—12页（PDF 19—21）；巴尔贝罗《查理大帝：欧洲之父》113页（PDF 122）；Nelson, King and Emperor, PDF 46、175页。地图：巴尔贝罗一书PDF第5页。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功绩二：加强监督，整顿司法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第二项功绩是加强地方监督和整顿司法。伯爵主持地方审判，掌握较大的地方权力。查理曼派巡察使检查案件，干预徇私与受贿，把君主的监督带入地方司法。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他还推动固定的审判辅助人员参与法庭，让他们积累法律知识和经验。809年的规定减少了普通人必须出庭的次数，由固定人员承担更多事务，减轻出庭负担。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这些措施使维护正义成为具体的监督和审判安排。查理曼在军事扩张之后，继续加强王权对地方的干预，为整顿帝国秩序投入力量。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参考：巴尔贝罗《查理大帝：欧洲之父》206—210页（PDF 215—219）。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功绩三：推动教育与拉丁文化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第三项功绩是推动教育与拉丁文化。789年的训令要求教会办学，教授语法、诗篇和历法计算等知识，培养能够读写、处理文书的人。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阿尔昆在图尔校订《圣经》，宫廷和修道院支持文本的抄写、保存与交流。加洛林小写字体逐渐传播，清晰的字形方便了阅读和抄写。学者、教士与抄写员共同参与，促进了书籍在各地流通。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帝国分裂以后，拉丁文教育、书籍与书写习惯继续延续。这项功绩为不同地区提供了共同的文化联系，使查理曼的影响超出了帝国政治统一的时期。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参考：巴尔贝罗《查理大帝：欧洲之父》231—237页（PDF 240—246）；艾因哈德《查理大帝传》28页（PDF 37）；皮朗《穆罕默德和查理曼》290页（PDF 322）。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合法性：法兰克王权获得皇帝地位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现在比较合法性。罗马皇帝以帝国最高统治者的身份行使权力，皇帝敕令和帝国法律共同表达这种权威。查理曼则在法兰克和伦巴第王权的基础上取得皇帝地位。王朝继承、军事征服与贵族支持，构成他原有的统治基础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800年，教皇在罗马为他加冕。801年的文书头衔同时保留治理罗马帝国的皇帝称号，以及法兰克人和伦巴第人的国王称号。这表明，罗马皇帝的权威进入了一个已经拥有自身王朝和领土基础的政权。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比较的重点，在于谁来承载帝国权威。查理曼的政治中心位于法兰克地区，皇帝身份依托这里的王朝和贵族关系。罗马传统为他提供了帝国的尊严与理想，法兰克王权则构成他的现实根基。我们据此把他理解为取得帝国地位的新型欧洲君主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参考：《剑桥插图中世纪史》上册19、21页（PDF 26、28）；艾因哈德《查理大帝传》30—31页（PDF 39—40）；巴尔贝罗《查理大帝：欧洲之父》113页（PDF 122）；Nelson, King and Emperor, PDF 320、405—408页。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宫廷组成：官署中枢与王朝精英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再看宫廷组成。晚期罗马宫廷是帝国行政的中枢，皇帝身边的高级官员和谘议机构连接地方行政，各类官职分别承担文书、司法和财政事务。查理曼的宫廷则以王族为核心，把世俗显贵与教会人士直接组织到君主身边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王后参与王室庄园与家政管理，世俗显贵担任宫廷职务，负责供应和财物。主教与教士承担礼拜、文书和咨询。科隆主教希尔德巴尔德长期留在宫廷，主持王室礼拜堂，就是教会身份与宫廷职务结合的具体例子。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罗马宫廷显示出较为分化的帝国官职体系。在查理曼的宫廷中，王室家政、世俗职务与教会人事联系得更紧密。君主通过这些人联系地方力量，宫廷也因此成为王朝聚合政治精英的中心。这种组织方式，使他的权力深深扎根于法兰克王朝与显贵的合作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参考：《剑桥插图中世纪史》上册21—24页（PDF 28—31）；Nelson, King and Emperor, PDF 338、369、389、498—500页；艾因哈德《查理大帝传》28页（PDF 37）。史料说明：《宫廷秩序》经后世修订，Nelson结合其他材料讨论宫廷组织。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宗教地位：皇帝职责与教会合作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宗教方面，两者有清楚的承接关系。晚期罗马皇帝承担维护基督教秩序的职责，君士坦丁召集尼西亚会议就是一个例子。查理曼同样把维护信仰视为君主责任。794年，他召集法兰克福会议，参与处理教义争论。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进一步看这种职责怎样落实。罗马皇帝从帝国最高统治者的位置介入教会事务。查理曼则通过法兰克王权与罗马教皇、各地主教和修道院的合作开展统治。教皇加冕确认皇帝身份，主教进入宫廷并参与政务，教会学校和修道院提供读写人才与书籍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这使罗马的基督教皇权理想在新的政治关系中发挥作用：法兰克君主提供政治支持，教会把宫廷与各地社会连接起来。宗教维度说明，查理曼把继承的皇帝职责落实为王朝与教会的紧密合作，成为拉丁基督教政治秩序的重要组织者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参考：《剑桥插图中世纪史》上册19—21页（PDF 26—28）；巴尔贝罗《查理大帝：欧洲之父》231—239页（PDF 240—248）；Nelson, King and Emperor, PDF 251、338、405—408页。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权力关系：君主通过贵族合作行使权力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最后看权力关系。罗马皇帝通过宫廷高官、大区长官、行省总督和军队组织行使权力，帝国官职构成了上下衔接的统治层级。查理曼同样任用官员、派巡察使监督地方，并进一步借助领主与属从的关系组织服务。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810年的规定要求领主约束属从，使他们服从皇帝命令。领主能够召集人员、组织军役，将效忠关系用于王权的动员。公共职务与个人忠诚由此共同支撑君主的权力。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813年安排继承，更体现了这种合作。艾因哈德记载，查理曼召集法兰克显贵，在得到一致赞同后，让路易成为共同皇帝和继承人。君主提出王朝安排，显贵给予政治支持，继承问题通过君主决断与精英协商得到落实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与罗马按官职层级组织权力的方式相比，查理曼更直接依靠王朝与地方显贵的合作。从军役到皇位继承，这些关系都发挥着重要作用。这是我们判断他为新型欧洲君主的核心依据。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参考：《剑桥插图中世纪史》上册21—24页（PDF 28—31）；布洛赫《封建社会》上卷266—269页（PDF 288—291）；巴尔贝罗《查理大帝：欧洲之父》146—149、206—210页（PDF 155—158、215—219）；艾因哈德《查理大帝传》31页（PDF 40）；Nelson, King and Emperor, PDF 497—500页。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查理曼与罗马皇帝：四个维度的比较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最后，把两种君主放在同一张表中比较。合法性上，罗马皇帝以帝国最高统治者的身份行使权力，查理曼的皇帝身份建立在法兰克与伦巴第王权之上。宫廷上，罗马依靠分工较细的高级官职，查理曼则把王族、世俗显贵与主教直接组织在君主身边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宗教上，查理曼继承维护基督教秩序的职责，通过教皇加冕、主教参政和教会办学，把教会力量纳入王朝统治。权力关系上，罗马通过帝国官职层级组织统治，查理曼更直接借助领主效忠和显贵协商，810年的规定与813年的继承安排就是实例。他的军事、司法和文化功绩，也建立在这些政治联系之上。因此，我们认为，查理曼是一位以法兰克王朝为根基、继承并运用罗马传统的新型欧洲君主。谢谢大家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参考：《剑桥插图中世纪史》上册19—24页（PDF 26—31）；巴尔贝罗《查理大帝：欧洲之父》113、206—210、231—239页；布洛赫《封建社会》上卷266—269页；Nelson, King and Emperor, PDF 338、369、389、405—408、497—500、515页。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参考书目与页码说明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中文著作优先列书内印刷页码。Nelson一书使用本地PDF文件页码。各论证的出处详见相应备注和讲稿。经济材料仅供答辩。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中世纪欧洲文明   /   附录 · 书目</a:t>
            </a:r>
          </a:p>
          <a:p xmlns:a="http://schemas.openxmlformats.org/drawingml/2006/main">
            <a:r>
              <a:t>参考书目与页码说明</a:t>
            </a:r>
          </a:p>
          <a:p xmlns:a="http://schemas.openxmlformats.org/drawingml/2006/main">
            <a:r>
              <a:t>艾因哈德《查理大帝传》</a:t>
            </a:r>
          </a:p>
          <a:p xmlns:a="http://schemas.openxmlformats.org/drawingml/2006/main">
            <a:r>
              <a:t>10—12、28—31页</a:t>
            </a:r>
          </a:p>
          <a:p xmlns:a="http://schemas.openxmlformats.org/drawingml/2006/main">
            <a:r>
              <a:t>巴尔贝罗《查理大帝：欧洲之父》</a:t>
            </a:r>
          </a:p>
          <a:p xmlns:a="http://schemas.openxmlformats.org/drawingml/2006/main">
            <a:r>
              <a:t>113、146—149、206—210、229、231—239、271—272页</a:t>
            </a:r>
          </a:p>
          <a:p xmlns:a="http://schemas.openxmlformats.org/drawingml/2006/main">
            <a:r>
              <a:t>布洛赫《封建社会》上卷</a:t>
            </a:r>
          </a:p>
          <a:p xmlns:a="http://schemas.openxmlformats.org/drawingml/2006/main">
            <a:r>
              <a:t>266—269页</a:t>
            </a:r>
          </a:p>
          <a:p xmlns:a="http://schemas.openxmlformats.org/drawingml/2006/main">
            <a:r>
              <a:t>Janet L. Nelson, King and Emperor: A New Life of Charlemagne</a:t>
            </a:r>
          </a:p>
          <a:p xmlns:a="http://schemas.openxmlformats.org/drawingml/2006/main">
            <a:r>
              <a:t>PDF 46、175、251、320、338、369、389、405—408、480—481、497—500、515页</a:t>
            </a:r>
          </a:p>
          <a:p xmlns:a="http://schemas.openxmlformats.org/drawingml/2006/main">
            <a:r>
              <a:t>皮朗《穆罕默德和查理曼》</a:t>
            </a:r>
          </a:p>
          <a:p xmlns:a="http://schemas.openxmlformats.org/drawingml/2006/main">
            <a:r>
              <a:t>290页文化延续；译者前言4页（PDF 10）：经济解释的争议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补充比较依据：《剑桥插图中世纪史》上册19—24页（PDF 26—31）。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f9ffa9f4a341b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a3841d3b2242d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dae32266d1481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9cbe87019c452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b2e74fa4574f8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4cc60946e849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50A83F-1AF1-40E4-B29B-59B4E1D005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42B13FD-A08A-45AF-A434-CB412D12592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3E65358-5783-43C6-8CC3-989D7E15D1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CE195A-1CE8-4C5C-A0CC-ADC28F2812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86323D4-CAD1-46C1-8CDD-C00FD29C57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8310267-1193-40C8-A0DD-B4F06FD0D8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7317688-BFBD-4A31-90A7-FB4433D1E4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1E3049A-EE59-4481-A7BE-55B73839D31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84BC37-E002-4A03-B5FC-3D88AB25EE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BC996FD-4137-4C1C-925D-834BF86FA6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8125b9f43243ed" /><Relationship Type="http://schemas.openxmlformats.org/officeDocument/2006/relationships/slideLayout" Target="/ppt/slideLayouts/slideLayout1.xml" Id="R8fd8195a25944868" /><Relationship Type="http://schemas.openxmlformats.org/officeDocument/2006/relationships/slideLayout" Target="/ppt/slideLayouts/slideLayout2.xml" Id="Rb0b64a1cb1134594" /><Relationship Type="http://schemas.openxmlformats.org/officeDocument/2006/relationships/slideLayout" Target="/ppt/slideLayouts/slideLayout3.xml" Id="R755a7f65d899470b" /><Relationship Type="http://schemas.openxmlformats.org/officeDocument/2006/relationships/slideLayout" Target="/ppt/slideLayouts/slideLayout4.xml" Id="R75422841dea34360" /><Relationship Type="http://schemas.openxmlformats.org/officeDocument/2006/relationships/slideLayout" Target="/ppt/slideLayouts/slideLayout5.xml" Id="R44fcbf3fdb9f47cb" /><Relationship Type="http://schemas.openxmlformats.org/officeDocument/2006/relationships/slideLayout" Target="/ppt/slideLayouts/slideLayout6.xml" Id="Rc3b23e25bcaa42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d8195a25944868"/>
    <p:sldLayoutId xmlns:r="http://schemas.openxmlformats.org/officeDocument/2006/relationships" id="2147483650" r:id="Rb0b64a1cb1134594"/>
    <p:sldLayoutId xmlns:r="http://schemas.openxmlformats.org/officeDocument/2006/relationships" id="2147483651" r:id="R755a7f65d899470b"/>
    <p:sldLayoutId xmlns:r="http://schemas.openxmlformats.org/officeDocument/2006/relationships" id="2147483652" r:id="R75422841dea34360"/>
    <p:sldLayoutId xmlns:r="http://schemas.openxmlformats.org/officeDocument/2006/relationships" id="2147483653" r:id="R44fcbf3fdb9f47cb"/>
    <p:sldLayoutId xmlns:r="http://schemas.openxmlformats.org/officeDocument/2006/relationships" id="2147483654" r:id="Rc3b23e25bcaa42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0f69ff390b4441" /><Relationship Type="http://schemas.openxmlformats.org/officeDocument/2006/relationships/notesSlide" Target="/ppt/notesSlides/notesSlide1.xml" Id="R405cd48ca0de40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8bb6f472924411" /><Relationship Type="http://schemas.openxmlformats.org/officeDocument/2006/relationships/notesSlide" Target="/ppt/notesSlides/notesSlide2.xml" Id="R04b5b0dee8404b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b3accbcdba44dd" /><Relationship Type="http://schemas.openxmlformats.org/officeDocument/2006/relationships/image" Target="/ppt/media/image.png" Id="R74c43f07867b47a8" /><Relationship Type="http://schemas.openxmlformats.org/officeDocument/2006/relationships/notesSlide" Target="/ppt/notesSlides/notesSlide3.xml" Id="R893ae25952924d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4a8529ae0544f7" /><Relationship Type="http://schemas.openxmlformats.org/officeDocument/2006/relationships/notesSlide" Target="/ppt/notesSlides/notesSlide4.xml" Id="Raa899139e54444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516e61b9d44610" /><Relationship Type="http://schemas.openxmlformats.org/officeDocument/2006/relationships/notesSlide" Target="/ppt/notesSlides/notesSlide5.xml" Id="Rfe273ebb41884a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2432aba21f4f7e" /><Relationship Type="http://schemas.openxmlformats.org/officeDocument/2006/relationships/notesSlide" Target="/ppt/notesSlides/notesSlide6.xml" Id="R3429d125304647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933939ffa2422f" /><Relationship Type="http://schemas.openxmlformats.org/officeDocument/2006/relationships/notesSlide" Target="/ppt/notesSlides/notesSlide7.xml" Id="R7510574bfa9248a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9b4f6a94964c75" /><Relationship Type="http://schemas.openxmlformats.org/officeDocument/2006/relationships/notesSlide" Target="/ppt/notesSlides/notesSlide8.xml" Id="Rf94db8a230154c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af2eccbae441a2" /><Relationship Type="http://schemas.openxmlformats.org/officeDocument/2006/relationships/notesSlide" Target="/ppt/notesSlides/notesSlide9.xml" Id="R563ef83fc982495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e20bc732ef463c" /><Relationship Type="http://schemas.openxmlformats.org/officeDocument/2006/relationships/notesSlide" Target="/ppt/notesSlides/notesSlide10.xml" Id="Rbc5e8ad2b89b463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7c27e1ab4949e8" /><Relationship Type="http://schemas.openxmlformats.org/officeDocument/2006/relationships/notesSlide" Target="/ppt/notesSlides/notesSlide11.xml" Id="R7876a1017a2c4d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1">
            <a:extLst xmlns:a="http://schemas.openxmlformats.org/drawingml/2006/main">
              <a:ext uri="{FF2B5EF4-FFF2-40B4-BE49-F238E27FC236}">
                <a16:creationId xmlns:a16="http://schemas.microsoft.com/office/drawing/2014/main" id="{BB760EFE-15D8-45D0-BA07-2C84CE9A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7181F21F-4E27-4A99-9EC7-DC57E369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rule-3">
            <a:extLst xmlns:a="http://schemas.openxmlformats.org/drawingml/2006/main">
              <a:ext uri="{FF2B5EF4-FFF2-40B4-BE49-F238E27FC236}">
                <a16:creationId xmlns:a16="http://schemas.microsoft.com/office/drawing/2014/main" id="{5B1FFC97-891E-4B51-8810-68FBAE0F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07944D83-62FE-43EB-AFBD-828C0BDA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2BEC7DDD-029F-4D08-B1EA-9812796F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主要功绩与君主性质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181177C-2EDC-4DD4-BF95-F631C261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查理曼：罗马皇帝，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还是新型欧洲君主？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7C9A13C6-D58D-4D8F-B69B-B1BCAC61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我们的判断：新型欧洲君主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523FCE9C-FFFB-4ACA-BFD4-A8AB9F80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第八小组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C1945F98-D4AD-4B6A-9C40-61A2B2A1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成员：熊礼学-上台展示、张</a:t>
            </a:r>
            <a:r>
              <a:t>祺昀-ppt、张元赫、张芯源、朱硕、张智语-讨论稿</a:t>
            </a:r>
            <a:r>
              <a:rPr sz="16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8556948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9">
            <a:extLst xmlns:a="http://schemas.openxmlformats.org/drawingml/2006/main">
              <a:ext uri="{FF2B5EF4-FFF2-40B4-BE49-F238E27FC236}">
                <a16:creationId xmlns:a16="http://schemas.microsoft.com/office/drawing/2014/main" id="{344F5FA2-9389-4C71-A793-9D2FBD71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比较基准：4—5世纪</a:t>
            </a:r>
          </a:p>
        </p:txBody>
      </p:sp>
      <p:sp>
        <p:nvSpPr>
          <p:cNvPr id="2" name="text-10">
            <a:extLst xmlns:a="http://schemas.openxmlformats.org/drawingml/2006/main">
              <a:ext uri="{FF2B5EF4-FFF2-40B4-BE49-F238E27FC236}">
                <a16:creationId xmlns:a16="http://schemas.microsoft.com/office/drawing/2014/main" id="{DCD033D3-0C37-4433-A040-861D822E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heading-2">
            <a:extLst xmlns:a="http://schemas.openxmlformats.org/drawingml/2006/main">
              <a:ext uri="{FF2B5EF4-FFF2-40B4-BE49-F238E27FC236}">
                <a16:creationId xmlns:a16="http://schemas.microsoft.com/office/drawing/2014/main" id="{306A716C-6C08-4765-9C31-B10258BC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比较基准：晚期罗马皇帝</a:t>
            </a:r>
          </a:p>
        </p:txBody>
      </p:sp>
      <p:sp>
        <p:nvSpPr>
          <p:cNvPr id="4" name="rule-11">
            <a:extLst xmlns:a="http://schemas.openxmlformats.org/drawingml/2006/main">
              <a:ext uri="{FF2B5EF4-FFF2-40B4-BE49-F238E27FC236}">
                <a16:creationId xmlns:a16="http://schemas.microsoft.com/office/drawing/2014/main" id="{819B7FA3-3FDD-447C-8C6E-05CE8EEE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-12">
            <a:extLst xmlns:a="http://schemas.openxmlformats.org/drawingml/2006/main">
              <a:ext uri="{FF2B5EF4-FFF2-40B4-BE49-F238E27FC236}">
                <a16:creationId xmlns:a16="http://schemas.microsoft.com/office/drawing/2014/main" id="{8E188CF6-77A3-4A9E-B788-861C0991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13">
            <a:extLst xmlns:a="http://schemas.openxmlformats.org/drawingml/2006/main">
              <a:ext uri="{FF2B5EF4-FFF2-40B4-BE49-F238E27FC236}">
                <a16:creationId xmlns:a16="http://schemas.microsoft.com/office/drawing/2014/main" id="{25A8412F-1FBC-46C7-AE79-4650C6B66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合法性</a:t>
            </a:r>
          </a:p>
        </p:txBody>
      </p:sp>
      <p:sp>
        <p:nvSpPr>
          <p:cNvPr id="7" name="text-14">
            <a:extLst xmlns:a="http://schemas.openxmlformats.org/drawingml/2006/main">
              <a:ext uri="{FF2B5EF4-FFF2-40B4-BE49-F238E27FC236}">
                <a16:creationId xmlns:a16="http://schemas.microsoft.com/office/drawing/2014/main" id="{3056AA24-0896-4AC8-801B-4DD21D55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52600"/>
            <a:ext cx="8629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罗马帝国的最高统治者，敕令具有法律效力</a:t>
            </a:r>
          </a:p>
        </p:txBody>
      </p:sp>
      <p:sp>
        <p:nvSpPr>
          <p:cNvPr id="8" name="text-15">
            <a:extLst xmlns:a="http://schemas.openxmlformats.org/drawingml/2006/main">
              <a:ext uri="{FF2B5EF4-FFF2-40B4-BE49-F238E27FC236}">
                <a16:creationId xmlns:a16="http://schemas.microsoft.com/office/drawing/2014/main" id="{D3D72996-24F3-41BB-9435-D4C4CDBD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990725"/>
            <a:ext cx="538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9" name="rule-16">
            <a:extLst xmlns:a="http://schemas.openxmlformats.org/drawingml/2006/main">
              <a:ext uri="{FF2B5EF4-FFF2-40B4-BE49-F238E27FC236}">
                <a16:creationId xmlns:a16="http://schemas.microsoft.com/office/drawing/2014/main" id="{F8CB3913-24C1-4054-9BFA-FD50A023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752725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-17">
            <a:extLst xmlns:a="http://schemas.openxmlformats.org/drawingml/2006/main">
              <a:ext uri="{FF2B5EF4-FFF2-40B4-BE49-F238E27FC236}">
                <a16:creationId xmlns:a16="http://schemas.microsoft.com/office/drawing/2014/main" id="{59D83AF1-8554-4636-B519-318B7CAC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宫廷组成</a:t>
            </a:r>
          </a:p>
        </p:txBody>
      </p:sp>
      <p:sp>
        <p:nvSpPr>
          <p:cNvPr id="11" name="text-18">
            <a:extLst xmlns:a="http://schemas.openxmlformats.org/drawingml/2006/main">
              <a:ext uri="{FF2B5EF4-FFF2-40B4-BE49-F238E27FC236}">
                <a16:creationId xmlns:a16="http://schemas.microsoft.com/office/drawing/2014/main" id="{B2C7A664-971E-4D97-AA68-BF73F7F0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09850"/>
            <a:ext cx="8629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以宫廷高官和谘议机构统筹帝国政务</a:t>
            </a:r>
          </a:p>
        </p:txBody>
      </p:sp>
      <p:sp>
        <p:nvSpPr>
          <p:cNvPr id="12" name="text-19">
            <a:extLst xmlns:a="http://schemas.openxmlformats.org/drawingml/2006/main">
              <a:ext uri="{FF2B5EF4-FFF2-40B4-BE49-F238E27FC236}">
                <a16:creationId xmlns:a16="http://schemas.microsoft.com/office/drawing/2014/main" id="{F83F112E-B5DA-4B58-8DFE-1847AA51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067050"/>
            <a:ext cx="538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3" name="rule-20">
            <a:extLst xmlns:a="http://schemas.openxmlformats.org/drawingml/2006/main">
              <a:ext uri="{FF2B5EF4-FFF2-40B4-BE49-F238E27FC236}">
                <a16:creationId xmlns:a16="http://schemas.microsoft.com/office/drawing/2014/main" id="{67DBCA72-EEA5-4F40-97E4-623612F5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29050"/>
            <a:ext cx="996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-21">
            <a:extLst xmlns:a="http://schemas.openxmlformats.org/drawingml/2006/main">
              <a:ext uri="{FF2B5EF4-FFF2-40B4-BE49-F238E27FC236}">
                <a16:creationId xmlns:a16="http://schemas.microsoft.com/office/drawing/2014/main" id="{0EE61341-3241-488E-9E52-6876E91D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625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宗教地位</a:t>
            </a:r>
          </a:p>
        </p:txBody>
      </p:sp>
      <p:sp>
        <p:nvSpPr>
          <p:cNvPr id="15" name="text-22">
            <a:extLst xmlns:a="http://schemas.openxmlformats.org/drawingml/2006/main">
              <a:ext uri="{FF2B5EF4-FFF2-40B4-BE49-F238E27FC236}">
                <a16:creationId xmlns:a16="http://schemas.microsoft.com/office/drawing/2014/main" id="{5EE2D149-8B08-49B4-B59F-8EB68EAF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67100"/>
            <a:ext cx="8629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5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维护基督教秩序，召集并参与教会会议</a:t>
            </a:r>
          </a:p>
        </p:txBody>
      </p:sp>
      <p:sp>
        <p:nvSpPr>
          <p:cNvPr id="16" name="text-23">
            <a:extLst xmlns:a="http://schemas.openxmlformats.org/drawingml/2006/main">
              <a:ext uri="{FF2B5EF4-FFF2-40B4-BE49-F238E27FC236}">
                <a16:creationId xmlns:a16="http://schemas.microsoft.com/office/drawing/2014/main" id="{84F56C85-8057-4605-BC6A-617509D3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143375"/>
            <a:ext cx="5381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" name="text-24">
            <a:extLst xmlns:a="http://schemas.openxmlformats.org/drawingml/2006/main">
              <a:ext uri="{FF2B5EF4-FFF2-40B4-BE49-F238E27FC236}">
                <a16:creationId xmlns:a16="http://schemas.microsoft.com/office/drawing/2014/main" id="{78081717-A59F-43E8-B499-A05E8929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罗马皇帝居于帝国法律、官职与基督教秩序的中心。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1E444A4-4B9E-454A-A583-53DCB3D2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权力关系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B50A09B9-48F8-49A7-9655-EABB6A68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324350"/>
            <a:ext cx="8629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650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通过官职层级组织统治，军队与显贵影响皇权</a:t>
            </a:r>
          </a:p>
        </p:txBody>
      </p:sp>
    </p:spTree>
    <p:extLst>
      <p:ext uri="{BB962C8B-B14F-4D97-AF65-F5344CB8AC3E}">
        <p14:creationId xmlns:p14="http://schemas.microsoft.com/office/powerpoint/2010/main" val="13373920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39">
            <a:extLst xmlns:a="http://schemas.openxmlformats.org/drawingml/2006/main">
              <a:ext uri="{FF2B5EF4-FFF2-40B4-BE49-F238E27FC236}">
                <a16:creationId xmlns:a16="http://schemas.microsoft.com/office/drawing/2014/main" id="{D8178D84-AD8C-472F-AA9E-20C16514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主要功绩</a:t>
            </a:r>
          </a:p>
        </p:txBody>
      </p:sp>
      <p:sp>
        <p:nvSpPr>
          <p:cNvPr id="2" name="text-40">
            <a:extLst xmlns:a="http://schemas.openxmlformats.org/drawingml/2006/main">
              <a:ext uri="{FF2B5EF4-FFF2-40B4-BE49-F238E27FC236}">
                <a16:creationId xmlns:a16="http://schemas.microsoft.com/office/drawing/2014/main" id="{B42D26DB-C3D4-47DD-AD55-93E76E3D5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heading-4">
            <a:extLst xmlns:a="http://schemas.openxmlformats.org/drawingml/2006/main">
              <a:ext uri="{FF2B5EF4-FFF2-40B4-BE49-F238E27FC236}">
                <a16:creationId xmlns:a16="http://schemas.microsoft.com/office/drawing/2014/main" id="{5B328459-2772-4E28-B9AB-8274136F4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功绩一：扩大法兰克统治</a:t>
            </a:r>
          </a:p>
        </p:txBody>
      </p:sp>
      <p:sp>
        <p:nvSpPr>
          <p:cNvPr id="4" name="rule-41">
            <a:extLst xmlns:a="http://schemas.openxmlformats.org/drawingml/2006/main">
              <a:ext uri="{FF2B5EF4-FFF2-40B4-BE49-F238E27FC236}">
                <a16:creationId xmlns:a16="http://schemas.microsoft.com/office/drawing/2014/main" id="{DECA5486-225F-40FB-9ECC-956FBF01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-42">
            <a:extLst xmlns:a="http://schemas.openxmlformats.org/drawingml/2006/main">
              <a:ext uri="{FF2B5EF4-FFF2-40B4-BE49-F238E27FC236}">
                <a16:creationId xmlns:a16="http://schemas.microsoft.com/office/drawing/2014/main" id="{3F0F0D43-29FA-4590-8C4A-ED6E58F2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6" name="图片 5">
            <a:extLst xmlns:a="http://schemas.openxmlformats.org/drawingml/2006/main">
              <a:ext uri="{FF2B5EF4-FFF2-40B4-BE49-F238E27FC236}">
                <a16:creationId xmlns:a16="http://schemas.microsoft.com/office/drawing/2014/main" id="{1AA953C5-91A7-4F57-BDD0-EFEB86F477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43f07867b47a8"/>
          <a:stretch xmlns:a="http://schemas.openxmlformats.org/drawingml/2006/main"/>
        </p:blipFill>
        <p:spPr>
          <a:xfrm xmlns:a="http://schemas.openxmlformats.org/drawingml/2006/main">
            <a:off x="1056894" y="1533525"/>
            <a:ext cx="3467862" cy="4295775"/>
          </a:xfrm>
          <a:prstGeom xmlns:a="http://schemas.openxmlformats.org/drawingml/2006/main" prst="rect">
            <a:avLst/>
          </a:prstGeom>
        </p:spPr>
      </p:pic>
      <p:sp>
        <p:nvSpPr>
          <p:cNvPr id="7" name="text-43">
            <a:extLst xmlns:a="http://schemas.openxmlformats.org/drawingml/2006/main">
              <a:ext uri="{FF2B5EF4-FFF2-40B4-BE49-F238E27FC236}">
                <a16:creationId xmlns:a16="http://schemas.microsoft.com/office/drawing/2014/main" id="{2133BC5D-D8D2-48DA-8C9C-3F825BDC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752600"/>
            <a:ext cx="6096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伦巴第：纳入法兰克统治</a:t>
            </a:r>
          </a:p>
        </p:txBody>
      </p:sp>
      <p:sp>
        <p:nvSpPr>
          <p:cNvPr id="8" name="text-44">
            <a:extLst xmlns:a="http://schemas.openxmlformats.org/drawingml/2006/main">
              <a:ext uri="{FF2B5EF4-FFF2-40B4-BE49-F238E27FC236}">
                <a16:creationId xmlns:a16="http://schemas.microsoft.com/office/drawing/2014/main" id="{EF0BEDF3-CD46-4D36-A986-3F8C9951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343150"/>
            <a:ext cx="6038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774年征服伦巴第王国，意大利北部纳入统治，仍保留自身的法律和传统。</a:t>
            </a:r>
          </a:p>
        </p:txBody>
      </p:sp>
      <p:sp>
        <p:nvSpPr>
          <p:cNvPr id="9" name="text-45">
            <a:extLst xmlns:a="http://schemas.openxmlformats.org/drawingml/2006/main">
              <a:ext uri="{FF2B5EF4-FFF2-40B4-BE49-F238E27FC236}">
                <a16:creationId xmlns:a16="http://schemas.microsoft.com/office/drawing/2014/main" id="{10B5BC53-2129-46E1-88A5-C79D1A7B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71850"/>
            <a:ext cx="6096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萨克森：长期战争与征服</a:t>
            </a:r>
          </a:p>
        </p:txBody>
      </p:sp>
      <p:sp>
        <p:nvSpPr>
          <p:cNvPr id="10" name="text-46">
            <a:extLst xmlns:a="http://schemas.openxmlformats.org/drawingml/2006/main">
              <a:ext uri="{FF2B5EF4-FFF2-40B4-BE49-F238E27FC236}">
                <a16:creationId xmlns:a16="http://schemas.microsoft.com/office/drawing/2014/main" id="{C4516E80-8A58-44B6-8FA5-90676C3D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962400"/>
            <a:ext cx="6038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征服扩大了统治范围，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也伴随强迫改宗和人口迁移。</a:t>
            </a:r>
          </a:p>
        </p:txBody>
      </p:sp>
      <p:sp>
        <p:nvSpPr>
          <p:cNvPr id="11" name="text-47">
            <a:extLst xmlns:a="http://schemas.openxmlformats.org/drawingml/2006/main">
              <a:ext uri="{FF2B5EF4-FFF2-40B4-BE49-F238E27FC236}">
                <a16:creationId xmlns:a16="http://schemas.microsoft.com/office/drawing/2014/main" id="{4922DC04-6E16-472D-A644-6AD8C93D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143500"/>
            <a:ext cx="609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功绩：扩大王权的统治范围，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加强多个地区之间的政治联系。</a:t>
            </a:r>
          </a:p>
        </p:txBody>
      </p:sp>
    </p:spTree>
    <p:extLst>
      <p:ext uri="{BB962C8B-B14F-4D97-AF65-F5344CB8AC3E}">
        <p14:creationId xmlns:p14="http://schemas.microsoft.com/office/powerpoint/2010/main" val="15327165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48">
            <a:extLst xmlns:a="http://schemas.openxmlformats.org/drawingml/2006/main">
              <a:ext uri="{FF2B5EF4-FFF2-40B4-BE49-F238E27FC236}">
                <a16:creationId xmlns:a16="http://schemas.microsoft.com/office/drawing/2014/main" id="{D3A7AA50-B098-4435-879A-00485BD3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主要功绩</a:t>
            </a:r>
          </a:p>
        </p:txBody>
      </p:sp>
      <p:sp>
        <p:nvSpPr>
          <p:cNvPr id="2" name="text-49">
            <a:extLst xmlns:a="http://schemas.openxmlformats.org/drawingml/2006/main">
              <a:ext uri="{FF2B5EF4-FFF2-40B4-BE49-F238E27FC236}">
                <a16:creationId xmlns:a16="http://schemas.microsoft.com/office/drawing/2014/main" id="{F06817FF-96BE-4C8F-A246-5CEABA33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heading-5">
            <a:extLst xmlns:a="http://schemas.openxmlformats.org/drawingml/2006/main">
              <a:ext uri="{FF2B5EF4-FFF2-40B4-BE49-F238E27FC236}">
                <a16:creationId xmlns:a16="http://schemas.microsoft.com/office/drawing/2014/main" id="{49500A0F-CB2A-4854-BF66-368695DE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功绩二：加强监督，整顿司法</a:t>
            </a:r>
          </a:p>
        </p:txBody>
      </p:sp>
      <p:sp>
        <p:nvSpPr>
          <p:cNvPr id="4" name="rule-50">
            <a:extLst xmlns:a="http://schemas.openxmlformats.org/drawingml/2006/main">
              <a:ext uri="{FF2B5EF4-FFF2-40B4-BE49-F238E27FC236}">
                <a16:creationId xmlns:a16="http://schemas.microsoft.com/office/drawing/2014/main" id="{5310B7F0-2007-4EBC-BFAC-B7D2D79A4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-51">
            <a:extLst xmlns:a="http://schemas.openxmlformats.org/drawingml/2006/main">
              <a:ext uri="{FF2B5EF4-FFF2-40B4-BE49-F238E27FC236}">
                <a16:creationId xmlns:a16="http://schemas.microsoft.com/office/drawing/2014/main" id="{903714FD-E3FD-48BB-855F-94FB52B1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52">
            <a:extLst xmlns:a="http://schemas.openxmlformats.org/drawingml/2006/main">
              <a:ext uri="{FF2B5EF4-FFF2-40B4-BE49-F238E27FC236}">
                <a16:creationId xmlns:a16="http://schemas.microsoft.com/office/drawing/2014/main" id="{FF3863B5-5CA0-4B01-AB5C-F9135860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6668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监督地方</a:t>
            </a:r>
          </a:p>
        </p:txBody>
      </p:sp>
      <p:sp>
        <p:nvSpPr>
          <p:cNvPr id="7" name="text-53">
            <a:extLst xmlns:a="http://schemas.openxmlformats.org/drawingml/2006/main">
              <a:ext uri="{FF2B5EF4-FFF2-40B4-BE49-F238E27FC236}">
                <a16:creationId xmlns:a16="http://schemas.microsoft.com/office/drawing/2014/main" id="{59BC0483-5D7A-4D0B-87AF-F9645445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733550"/>
            <a:ext cx="8953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巡察使检查地方司法</a:t>
            </a:r>
          </a:p>
        </p:txBody>
      </p:sp>
      <p:sp>
        <p:nvSpPr>
          <p:cNvPr id="8" name="text-54">
            <a:extLst xmlns:a="http://schemas.openxmlformats.org/drawingml/2006/main">
              <a:ext uri="{FF2B5EF4-FFF2-40B4-BE49-F238E27FC236}">
                <a16:creationId xmlns:a16="http://schemas.microsoft.com/office/drawing/2014/main" id="{5ACF24A3-DCAC-4D3C-9E39-88D0B89C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200275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检查伯爵怎样办案，干预徇私和受贿</a:t>
            </a:r>
          </a:p>
        </p:txBody>
      </p:sp>
      <p:sp>
        <p:nvSpPr>
          <p:cNvPr id="9" name="rule-55">
            <a:extLst xmlns:a="http://schemas.openxmlformats.org/drawingml/2006/main">
              <a:ext uri="{FF2B5EF4-FFF2-40B4-BE49-F238E27FC236}">
                <a16:creationId xmlns:a16="http://schemas.microsoft.com/office/drawing/2014/main" id="{1469E867-1236-4B7A-93EB-E5FB663E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647950"/>
            <a:ext cx="9077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text-56">
            <a:extLst xmlns:a="http://schemas.openxmlformats.org/drawingml/2006/main">
              <a:ext uri="{FF2B5EF4-FFF2-40B4-BE49-F238E27FC236}">
                <a16:creationId xmlns:a16="http://schemas.microsoft.com/office/drawing/2014/main" id="{38CEC33C-C08E-4B94-BDF9-D3704FF2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6668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固定人员</a:t>
            </a:r>
          </a:p>
        </p:txBody>
      </p:sp>
      <p:sp>
        <p:nvSpPr>
          <p:cNvPr id="11" name="text-57">
            <a:extLst xmlns:a="http://schemas.openxmlformats.org/drawingml/2006/main">
              <a:ext uri="{FF2B5EF4-FFF2-40B4-BE49-F238E27FC236}">
                <a16:creationId xmlns:a16="http://schemas.microsoft.com/office/drawing/2014/main" id="{41DAF457-1480-4854-AA95-0B662BB20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800350"/>
            <a:ext cx="8953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固定审判辅助人员（scabini）</a:t>
            </a:r>
          </a:p>
        </p:txBody>
      </p:sp>
      <p:sp>
        <p:nvSpPr>
          <p:cNvPr id="12" name="text-58">
            <a:extLst xmlns:a="http://schemas.openxmlformats.org/drawingml/2006/main">
              <a:ext uri="{FF2B5EF4-FFF2-40B4-BE49-F238E27FC236}">
                <a16:creationId xmlns:a16="http://schemas.microsoft.com/office/drawing/2014/main" id="{E05A973B-0F81-40C7-9745-2EF19971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267075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让经常参与审判的人积累法律知识和经验</a:t>
            </a:r>
          </a:p>
        </p:txBody>
      </p:sp>
      <p:sp>
        <p:nvSpPr>
          <p:cNvPr id="13" name="rule-59">
            <a:extLst xmlns:a="http://schemas.openxmlformats.org/drawingml/2006/main">
              <a:ext uri="{FF2B5EF4-FFF2-40B4-BE49-F238E27FC236}">
                <a16:creationId xmlns:a16="http://schemas.microsoft.com/office/drawing/2014/main" id="{B48AB3C0-5547-41D6-9BFF-52BC6C9A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714750"/>
            <a:ext cx="90773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-60">
            <a:extLst xmlns:a="http://schemas.openxmlformats.org/drawingml/2006/main">
              <a:ext uri="{FF2B5EF4-FFF2-40B4-BE49-F238E27FC236}">
                <a16:creationId xmlns:a16="http://schemas.microsoft.com/office/drawing/2014/main" id="{11B81CFC-4588-48B7-8E1E-D7A1D65A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66687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减轻负担</a:t>
            </a:r>
          </a:p>
        </p:txBody>
      </p:sp>
      <p:sp>
        <p:nvSpPr>
          <p:cNvPr id="15" name="text-61">
            <a:extLst xmlns:a="http://schemas.openxmlformats.org/drawingml/2006/main">
              <a:ext uri="{FF2B5EF4-FFF2-40B4-BE49-F238E27FC236}">
                <a16:creationId xmlns:a16="http://schemas.microsoft.com/office/drawing/2014/main" id="{F068575F-9734-458A-A93A-19E125F4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867150"/>
            <a:ext cx="8953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809年减少普通人的出庭负担</a:t>
            </a:r>
          </a:p>
        </p:txBody>
      </p:sp>
      <p:sp>
        <p:nvSpPr>
          <p:cNvPr id="16" name="text-62">
            <a:extLst xmlns:a="http://schemas.openxmlformats.org/drawingml/2006/main">
              <a:ext uri="{FF2B5EF4-FFF2-40B4-BE49-F238E27FC236}">
                <a16:creationId xmlns:a16="http://schemas.microsoft.com/office/drawing/2014/main" id="{E6B78CBB-974A-430A-B743-20D48F38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333875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减少必须出庭的次数，由固定人员承担更多事务</a:t>
            </a:r>
          </a:p>
        </p:txBody>
      </p:sp>
      <p:sp>
        <p:nvSpPr>
          <p:cNvPr id="17" name="text-63">
            <a:extLst xmlns:a="http://schemas.openxmlformats.org/drawingml/2006/main">
              <a:ext uri="{FF2B5EF4-FFF2-40B4-BE49-F238E27FC236}">
                <a16:creationId xmlns:a16="http://schemas.microsoft.com/office/drawing/2014/main" id="{AF6B541F-D069-44B9-BA9A-3D59FDEA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功绩：加强王权对地方的监督，改善司法安排。</a:t>
            </a:r>
          </a:p>
        </p:txBody>
      </p:sp>
    </p:spTree>
    <p:extLst>
      <p:ext uri="{BB962C8B-B14F-4D97-AF65-F5344CB8AC3E}">
        <p14:creationId xmlns:p14="http://schemas.microsoft.com/office/powerpoint/2010/main" val="17843492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77">
            <a:extLst xmlns:a="http://schemas.openxmlformats.org/drawingml/2006/main">
              <a:ext uri="{FF2B5EF4-FFF2-40B4-BE49-F238E27FC236}">
                <a16:creationId xmlns:a16="http://schemas.microsoft.com/office/drawing/2014/main" id="{C32EBE89-0C5F-4C79-8ADA-F10903C3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主要功绩</a:t>
            </a:r>
          </a:p>
        </p:txBody>
      </p:sp>
      <p:sp>
        <p:nvSpPr>
          <p:cNvPr id="2" name="text-78">
            <a:extLst xmlns:a="http://schemas.openxmlformats.org/drawingml/2006/main">
              <a:ext uri="{FF2B5EF4-FFF2-40B4-BE49-F238E27FC236}">
                <a16:creationId xmlns:a16="http://schemas.microsoft.com/office/drawing/2014/main" id="{BEBFF6FC-6D9A-40AD-B089-64032E54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heading-7">
            <a:extLst xmlns:a="http://schemas.openxmlformats.org/drawingml/2006/main">
              <a:ext uri="{FF2B5EF4-FFF2-40B4-BE49-F238E27FC236}">
                <a16:creationId xmlns:a16="http://schemas.microsoft.com/office/drawing/2014/main" id="{836762A6-53F0-48C2-AF38-29EB7A84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功绩三：推动教育与拉丁文化</a:t>
            </a:r>
          </a:p>
        </p:txBody>
      </p:sp>
      <p:sp>
        <p:nvSpPr>
          <p:cNvPr id="4" name="rule-79">
            <a:extLst xmlns:a="http://schemas.openxmlformats.org/drawingml/2006/main">
              <a:ext uri="{FF2B5EF4-FFF2-40B4-BE49-F238E27FC236}">
                <a16:creationId xmlns:a16="http://schemas.microsoft.com/office/drawing/2014/main" id="{EDA8CD03-7B8E-4FB4-A157-448F198C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-80">
            <a:extLst xmlns:a="http://schemas.openxmlformats.org/drawingml/2006/main">
              <a:ext uri="{FF2B5EF4-FFF2-40B4-BE49-F238E27FC236}">
                <a16:creationId xmlns:a16="http://schemas.microsoft.com/office/drawing/2014/main" id="{13ED493D-60AC-4701-A137-E180FFA6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81">
            <a:extLst xmlns:a="http://schemas.openxmlformats.org/drawingml/2006/main">
              <a:ext uri="{FF2B5EF4-FFF2-40B4-BE49-F238E27FC236}">
                <a16:creationId xmlns:a16="http://schemas.microsoft.com/office/drawing/2014/main" id="{B9B39D74-A9C0-4811-9D46-4D68CAAB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81150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具体做法</a:t>
            </a:r>
          </a:p>
        </p:txBody>
      </p:sp>
      <p:sp>
        <p:nvSpPr>
          <p:cNvPr id="7" name="text-82">
            <a:extLst xmlns:a="http://schemas.openxmlformats.org/drawingml/2006/main">
              <a:ext uri="{FF2B5EF4-FFF2-40B4-BE49-F238E27FC236}">
                <a16:creationId xmlns:a16="http://schemas.microsoft.com/office/drawing/2014/main" id="{F965427E-3BF7-471F-847C-ED22C3AC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66925"/>
            <a:ext cx="438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789年训令要求教会设校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教授语法、诗篇和历法计算</a:t>
            </a:r>
          </a:p>
        </p:txBody>
      </p:sp>
      <p:sp>
        <p:nvSpPr>
          <p:cNvPr id="8" name="text-83">
            <a:extLst xmlns:a="http://schemas.openxmlformats.org/drawingml/2006/main">
              <a:ext uri="{FF2B5EF4-FFF2-40B4-BE49-F238E27FC236}">
                <a16:creationId xmlns:a16="http://schemas.microsoft.com/office/drawing/2014/main" id="{737247CF-ACD0-419F-8CDA-5D1293A06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81150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文化影响</a:t>
            </a:r>
          </a:p>
        </p:txBody>
      </p:sp>
      <p:sp>
        <p:nvSpPr>
          <p:cNvPr id="9" name="text-84">
            <a:extLst xmlns:a="http://schemas.openxmlformats.org/drawingml/2006/main">
              <a:ext uri="{FF2B5EF4-FFF2-40B4-BE49-F238E27FC236}">
                <a16:creationId xmlns:a16="http://schemas.microsoft.com/office/drawing/2014/main" id="{FC4E2538-6DBE-45C4-A705-1589621A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66925"/>
            <a:ext cx="3867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培养能够读写的人才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支持教会与宫廷的工作</a:t>
            </a:r>
          </a:p>
        </p:txBody>
      </p:sp>
      <p:sp>
        <p:nvSpPr>
          <p:cNvPr id="10" name="text-85">
            <a:extLst xmlns:a="http://schemas.openxmlformats.org/drawingml/2006/main">
              <a:ext uri="{FF2B5EF4-FFF2-40B4-BE49-F238E27FC236}">
                <a16:creationId xmlns:a16="http://schemas.microsoft.com/office/drawing/2014/main" id="{7CA9D2A8-FB2C-4C8F-B962-920BE1E1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功绩：支持教育与书籍传播，影响延续至帝国分裂之后。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865F495-3EC3-43D8-A587-A843E9BA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教会学校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906DF1B-C5A4-4CEE-B967-54234E0A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校订与抄写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7A60489-BDEF-45C7-8D4A-B6B995C4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43250"/>
            <a:ext cx="438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阿尔昆在图尔校订《圣经》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抄本通过宫廷与修道院传播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0F3EB4B-0FD3-4F5E-98FF-5ECCB673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43250"/>
            <a:ext cx="3867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保存、校正与传播文本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扩大书籍的交流与使用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9FDAC98D-6F7C-4A24-89C9-6C4DB0FC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1952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书写规范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9CD4B5E-9EA9-4E7B-A345-73F7787E7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9575"/>
            <a:ext cx="438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加洛林小写字体逐渐传播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字形清晰，更容易辨认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631032A-6561-45C6-8548-B7334DCE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19575"/>
            <a:ext cx="3867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便于跨地区阅读和抄写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13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促进拉丁文化的延续</a:t>
            </a:r>
          </a:p>
        </p:txBody>
      </p:sp>
    </p:spTree>
    <p:extLst>
      <p:ext uri="{BB962C8B-B14F-4D97-AF65-F5344CB8AC3E}">
        <p14:creationId xmlns:p14="http://schemas.microsoft.com/office/powerpoint/2010/main" val="14759706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25">
            <a:extLst xmlns:a="http://schemas.openxmlformats.org/drawingml/2006/main">
              <a:ext uri="{FF2B5EF4-FFF2-40B4-BE49-F238E27FC236}">
                <a16:creationId xmlns:a16="http://schemas.microsoft.com/office/drawing/2014/main" id="{26FC0AF5-768B-490D-A6F8-D6A05BA4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合法性</a:t>
            </a:r>
          </a:p>
        </p:txBody>
      </p:sp>
      <p:sp>
        <p:nvSpPr>
          <p:cNvPr id="2" name="text-26">
            <a:extLst xmlns:a="http://schemas.openxmlformats.org/drawingml/2006/main">
              <a:ext uri="{FF2B5EF4-FFF2-40B4-BE49-F238E27FC236}">
                <a16:creationId xmlns:a16="http://schemas.microsoft.com/office/drawing/2014/main" id="{74331B46-7C4D-41E8-9268-43284896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heading-3">
            <a:extLst xmlns:a="http://schemas.openxmlformats.org/drawingml/2006/main">
              <a:ext uri="{FF2B5EF4-FFF2-40B4-BE49-F238E27FC236}">
                <a16:creationId xmlns:a16="http://schemas.microsoft.com/office/drawing/2014/main" id="{84E51730-AB01-4595-B10E-F2DABF50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合法性：法兰克王权获得皇帝地位</a:t>
            </a:r>
          </a:p>
        </p:txBody>
      </p:sp>
      <p:sp>
        <p:nvSpPr>
          <p:cNvPr id="4" name="rule-27">
            <a:extLst xmlns:a="http://schemas.openxmlformats.org/drawingml/2006/main">
              <a:ext uri="{FF2B5EF4-FFF2-40B4-BE49-F238E27FC236}">
                <a16:creationId xmlns:a16="http://schemas.microsoft.com/office/drawing/2014/main" id="{75EF95D2-5115-4FB6-AEA5-E7FABDA5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60733C37-E5C2-4A5F-B3B3-E3DE3FD46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71BEE63C-1085-4F5F-9C61-6D0F5C30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罗马帝位</a:t>
            </a:r>
          </a:p>
        </p:txBody>
      </p:sp>
      <p:sp>
        <p:nvSpPr>
          <p:cNvPr id="7" name="text-30">
            <a:extLst xmlns:a="http://schemas.openxmlformats.org/drawingml/2006/main">
              <a:ext uri="{FF2B5EF4-FFF2-40B4-BE49-F238E27FC236}">
                <a16:creationId xmlns:a16="http://schemas.microsoft.com/office/drawing/2014/main" id="{EC7205DD-4187-4A63-B9FB-1C44D240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33550"/>
            <a:ext cx="7867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皇帝是帝国最高统治者，敕令具有法律效力</a:t>
            </a:r>
          </a:p>
        </p:txBody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E1ACD68C-7452-4C17-84AB-E94DE091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52650"/>
            <a:ext cx="7867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以帝国法律和既有官职表达公共权威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259559E0-0555-45A2-980C-D394C7AD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法兰克根基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D54172CF-0A5A-4B50-8ACF-8D774BDF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76550"/>
            <a:ext cx="7867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查理曼先拥有法兰克与伦巴第王权</a:t>
            </a:r>
          </a:p>
        </p:txBody>
      </p:sp>
      <p:sp>
        <p:nvSpPr>
          <p:cNvPr id="11" name="text-34">
            <a:extLst xmlns:a="http://schemas.openxmlformats.org/drawingml/2006/main">
              <a:ext uri="{FF2B5EF4-FFF2-40B4-BE49-F238E27FC236}">
                <a16:creationId xmlns:a16="http://schemas.microsoft.com/office/drawing/2014/main" id="{620DC397-3370-429B-97D4-860037CC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95650"/>
            <a:ext cx="7867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王朝继承、军事征服与贵族支持构成统治基础</a:t>
            </a:r>
          </a:p>
        </p:txBody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18B4A287-6640-4D9A-912A-E7E39C2A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285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49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帝国身份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044D667E-B856-4A04-9481-93458289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19550"/>
            <a:ext cx="7867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800年加冕，801年文书并列皇帝与国王称号</a:t>
            </a:r>
          </a:p>
        </p:txBody>
      </p:sp>
      <p:sp>
        <p:nvSpPr>
          <p:cNvPr id="14" name="text-37">
            <a:extLst xmlns:a="http://schemas.openxmlformats.org/drawingml/2006/main">
              <a:ext uri="{FF2B5EF4-FFF2-40B4-BE49-F238E27FC236}">
                <a16:creationId xmlns:a16="http://schemas.microsoft.com/office/drawing/2014/main" id="{0A4CA15D-5F2E-49CA-BB23-BCC9FB03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38650"/>
            <a:ext cx="7867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9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罗马皇帝的权威由法兰克王朝的王权承载</a:t>
            </a:r>
          </a:p>
        </p:txBody>
      </p:sp>
      <p:sp>
        <p:nvSpPr>
          <p:cNvPr id="15" name="text-38">
            <a:extLst xmlns:a="http://schemas.openxmlformats.org/drawingml/2006/main">
              <a:ext uri="{FF2B5EF4-FFF2-40B4-BE49-F238E27FC236}">
                <a16:creationId xmlns:a16="http://schemas.microsoft.com/office/drawing/2014/main" id="{629AF88A-F929-4613-BF59-D03E15D8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皇帝身份以法兰克王权为现实根基。</a:t>
            </a:r>
          </a:p>
        </p:txBody>
      </p:sp>
    </p:spTree>
    <p:extLst>
      <p:ext uri="{BB962C8B-B14F-4D97-AF65-F5344CB8AC3E}">
        <p14:creationId xmlns:p14="http://schemas.microsoft.com/office/powerpoint/2010/main" val="3917505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64">
            <a:extLst xmlns:a="http://schemas.openxmlformats.org/drawingml/2006/main">
              <a:ext uri="{FF2B5EF4-FFF2-40B4-BE49-F238E27FC236}">
                <a16:creationId xmlns:a16="http://schemas.microsoft.com/office/drawing/2014/main" id="{63F6D2DE-E0D8-4E0E-8E2E-CBF58887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宫廷组成</a:t>
            </a:r>
          </a:p>
        </p:txBody>
      </p:sp>
      <p:sp>
        <p:nvSpPr>
          <p:cNvPr id="2" name="text-65">
            <a:extLst xmlns:a="http://schemas.openxmlformats.org/drawingml/2006/main">
              <a:ext uri="{FF2B5EF4-FFF2-40B4-BE49-F238E27FC236}">
                <a16:creationId xmlns:a16="http://schemas.microsoft.com/office/drawing/2014/main" id="{75CCE5F8-B3C4-47AD-AF39-94CAAE0A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heading-6">
            <a:extLst xmlns:a="http://schemas.openxmlformats.org/drawingml/2006/main">
              <a:ext uri="{FF2B5EF4-FFF2-40B4-BE49-F238E27FC236}">
                <a16:creationId xmlns:a16="http://schemas.microsoft.com/office/drawing/2014/main" id="{36A2FC36-068A-4BC7-AC39-76203884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宫廷组成：官署中枢与王朝精英</a:t>
            </a:r>
          </a:p>
        </p:txBody>
      </p:sp>
      <p:sp>
        <p:nvSpPr>
          <p:cNvPr id="4" name="rule-66">
            <a:extLst xmlns:a="http://schemas.openxmlformats.org/drawingml/2006/main">
              <a:ext uri="{FF2B5EF4-FFF2-40B4-BE49-F238E27FC236}">
                <a16:creationId xmlns:a16="http://schemas.microsoft.com/office/drawing/2014/main" id="{346A0B78-E52E-4ECD-9CC3-18C14420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-67">
            <a:extLst xmlns:a="http://schemas.openxmlformats.org/drawingml/2006/main">
              <a:ext uri="{FF2B5EF4-FFF2-40B4-BE49-F238E27FC236}">
                <a16:creationId xmlns:a16="http://schemas.microsoft.com/office/drawing/2014/main" id="{514A7831-6EA5-4DBA-B1DE-6B05E3FE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68">
            <a:extLst xmlns:a="http://schemas.openxmlformats.org/drawingml/2006/main">
              <a:ext uri="{FF2B5EF4-FFF2-40B4-BE49-F238E27FC236}">
                <a16:creationId xmlns:a16="http://schemas.microsoft.com/office/drawing/2014/main" id="{6D0FC751-0F9F-40F2-87E9-B51444AB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罗马宫廷</a:t>
            </a:r>
          </a:p>
        </p:txBody>
      </p:sp>
      <p:sp>
        <p:nvSpPr>
          <p:cNvPr id="7" name="text-69">
            <a:extLst xmlns:a="http://schemas.openxmlformats.org/drawingml/2006/main">
              <a:ext uri="{FF2B5EF4-FFF2-40B4-BE49-F238E27FC236}">
                <a16:creationId xmlns:a16="http://schemas.microsoft.com/office/drawing/2014/main" id="{0C662AD0-7D1F-40DB-A28C-A9F1AA4C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33550"/>
            <a:ext cx="8629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高级官员与谘议机构居于行政中枢，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各类官职分别处理文书、司法与财政。</a:t>
            </a:r>
          </a:p>
        </p:txBody>
      </p:sp>
      <p:sp>
        <p:nvSpPr>
          <p:cNvPr id="8" name="text-70">
            <a:extLst xmlns:a="http://schemas.openxmlformats.org/drawingml/2006/main">
              <a:ext uri="{FF2B5EF4-FFF2-40B4-BE49-F238E27FC236}">
                <a16:creationId xmlns:a16="http://schemas.microsoft.com/office/drawing/2014/main" id="{930B9BF7-26A6-402E-810F-004EADE0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查理曼宫廷</a:t>
            </a:r>
          </a:p>
        </p:txBody>
      </p:sp>
      <p:sp>
        <p:nvSpPr>
          <p:cNvPr id="9" name="text-71">
            <a:extLst xmlns:a="http://schemas.openxmlformats.org/drawingml/2006/main">
              <a:ext uri="{FF2B5EF4-FFF2-40B4-BE49-F238E27FC236}">
                <a16:creationId xmlns:a16="http://schemas.microsoft.com/office/drawing/2014/main" id="{D4E940A6-CE1F-419B-A529-3418063E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8629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王族、世俗显贵与教会人士围绕君主处理政务，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王后参与家政，主教兼任宫廷职务。</a:t>
            </a:r>
          </a:p>
        </p:txBody>
      </p:sp>
      <p:sp>
        <p:nvSpPr>
          <p:cNvPr id="10" name="text-72">
            <a:extLst xmlns:a="http://schemas.openxmlformats.org/drawingml/2006/main">
              <a:ext uri="{FF2B5EF4-FFF2-40B4-BE49-F238E27FC236}">
                <a16:creationId xmlns:a16="http://schemas.microsoft.com/office/drawing/2014/main" id="{51050DEF-B4A2-43EF-AF25-604CFBF1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43125"/>
            <a:ext cx="76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30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buNone/>
              <a:defRPr sz="34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1" name="rule-73">
            <a:extLst xmlns:a="http://schemas.openxmlformats.org/drawingml/2006/main">
              <a:ext uri="{FF2B5EF4-FFF2-40B4-BE49-F238E27FC236}">
                <a16:creationId xmlns:a16="http://schemas.microsoft.com/office/drawing/2014/main" id="{73C7805C-32F2-4B86-930C-0DB0E471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-74">
            <a:extLst xmlns:a="http://schemas.openxmlformats.org/drawingml/2006/main">
              <a:ext uri="{FF2B5EF4-FFF2-40B4-BE49-F238E27FC236}">
                <a16:creationId xmlns:a16="http://schemas.microsoft.com/office/drawing/2014/main" id="{2939B539-A0CB-408C-8784-62859368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权力基础</a:t>
            </a:r>
          </a:p>
        </p:txBody>
      </p:sp>
      <p:sp>
        <p:nvSpPr>
          <p:cNvPr id="13" name="text-75">
            <a:extLst xmlns:a="http://schemas.openxmlformats.org/drawingml/2006/main">
              <a:ext uri="{FF2B5EF4-FFF2-40B4-BE49-F238E27FC236}">
                <a16:creationId xmlns:a16="http://schemas.microsoft.com/office/drawing/2014/main" id="{1D11DF21-5CCC-4F3A-9897-98CCA38F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981450"/>
            <a:ext cx="86296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7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希尔德巴尔德兼任科隆主教与王室礼拜堂负责人。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王朝通过这类人事联系组织地方与教会力量。</a:t>
            </a:r>
          </a:p>
        </p:txBody>
      </p:sp>
      <p:sp>
        <p:nvSpPr>
          <p:cNvPr id="14" name="text-76">
            <a:extLst xmlns:a="http://schemas.openxmlformats.org/drawingml/2006/main">
              <a:ext uri="{FF2B5EF4-FFF2-40B4-BE49-F238E27FC236}">
                <a16:creationId xmlns:a16="http://schemas.microsoft.com/office/drawing/2014/main" id="{910F19FE-659F-48CD-ADAC-8D9001E2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查理曼的宫廷把王室家政、显贵与教会人事紧密结合。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DB486A9-F60A-4F5B-ADB8-F153DE2C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4994EEB-6A23-48FB-A4D8-DFA3FDF7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28975"/>
            <a:ext cx="904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202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6716E46-1202-495D-BA57-41BB773D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1875" b="1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7C1B520-ED06-479C-96E2-E8A74B8B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219575"/>
            <a:ext cx="9048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2000"/>
              </a:lnSpc>
              <a:buNone/>
              <a:defRPr sz="195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8436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86">
            <a:extLst xmlns:a="http://schemas.openxmlformats.org/drawingml/2006/main">
              <a:ext uri="{FF2B5EF4-FFF2-40B4-BE49-F238E27FC236}">
                <a16:creationId xmlns:a16="http://schemas.microsoft.com/office/drawing/2014/main" id="{6F792EA1-49E4-4084-BBFA-F4D7AD84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宗教地位</a:t>
            </a:r>
          </a:p>
        </p:txBody>
      </p:sp>
      <p:sp>
        <p:nvSpPr>
          <p:cNvPr id="2" name="text-87">
            <a:extLst xmlns:a="http://schemas.openxmlformats.org/drawingml/2006/main">
              <a:ext uri="{FF2B5EF4-FFF2-40B4-BE49-F238E27FC236}">
                <a16:creationId xmlns:a16="http://schemas.microsoft.com/office/drawing/2014/main" id="{B24BFDB1-B9E1-4327-8415-FECEED9F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heading-8">
            <a:extLst xmlns:a="http://schemas.openxmlformats.org/drawingml/2006/main">
              <a:ext uri="{FF2B5EF4-FFF2-40B4-BE49-F238E27FC236}">
                <a16:creationId xmlns:a16="http://schemas.microsoft.com/office/drawing/2014/main" id="{200F1C66-525C-4848-B14A-C56B5EE1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宗教地位：皇帝职责与教会合作</a:t>
            </a:r>
          </a:p>
        </p:txBody>
      </p:sp>
      <p:sp>
        <p:nvSpPr>
          <p:cNvPr id="4" name="rule-88">
            <a:extLst xmlns:a="http://schemas.openxmlformats.org/drawingml/2006/main">
              <a:ext uri="{FF2B5EF4-FFF2-40B4-BE49-F238E27FC236}">
                <a16:creationId xmlns:a16="http://schemas.microsoft.com/office/drawing/2014/main" id="{BA2EE742-20A0-40B3-A534-13780215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-89">
            <a:extLst xmlns:a="http://schemas.openxmlformats.org/drawingml/2006/main">
              <a:ext uri="{FF2B5EF4-FFF2-40B4-BE49-F238E27FC236}">
                <a16:creationId xmlns:a16="http://schemas.microsoft.com/office/drawing/2014/main" id="{4258FC3C-52BB-4B9D-87F7-6C2D6537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90">
            <a:extLst xmlns:a="http://schemas.openxmlformats.org/drawingml/2006/main">
              <a:ext uri="{FF2B5EF4-FFF2-40B4-BE49-F238E27FC236}">
                <a16:creationId xmlns:a16="http://schemas.microsoft.com/office/drawing/2014/main" id="{CBFEF221-F979-4D44-B716-80D0608F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62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罗马皇帝</a:t>
            </a:r>
          </a:p>
        </p:txBody>
      </p:sp>
      <p:sp>
        <p:nvSpPr>
          <p:cNvPr id="7" name="text-91">
            <a:extLst xmlns:a="http://schemas.openxmlformats.org/drawingml/2006/main">
              <a:ext uri="{FF2B5EF4-FFF2-40B4-BE49-F238E27FC236}">
                <a16:creationId xmlns:a16="http://schemas.microsoft.com/office/drawing/2014/main" id="{74D54333-4FC3-43FA-8996-88801978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52600"/>
            <a:ext cx="872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4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维护基督教秩序，召集并参与教会会议。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君士坦丁召集尼西亚会议，是这一传统的实例。</a:t>
            </a:r>
          </a:p>
        </p:txBody>
      </p:sp>
      <p:sp>
        <p:nvSpPr>
          <p:cNvPr id="8" name="rule-92">
            <a:extLst xmlns:a="http://schemas.openxmlformats.org/drawingml/2006/main">
              <a:ext uri="{FF2B5EF4-FFF2-40B4-BE49-F238E27FC236}">
                <a16:creationId xmlns:a16="http://schemas.microsoft.com/office/drawing/2014/main" id="{B52DBD6F-FC53-4741-93CD-5493CA13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-93">
            <a:extLst xmlns:a="http://schemas.openxmlformats.org/drawingml/2006/main">
              <a:ext uri="{FF2B5EF4-FFF2-40B4-BE49-F238E27FC236}">
                <a16:creationId xmlns:a16="http://schemas.microsoft.com/office/drawing/2014/main" id="{30A86A7C-F1C1-4A0A-800B-82384228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1962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6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查理曼</a:t>
            </a:r>
          </a:p>
        </p:txBody>
      </p:sp>
      <p:sp>
        <p:nvSpPr>
          <p:cNvPr id="10" name="text-94">
            <a:extLst xmlns:a="http://schemas.openxmlformats.org/drawingml/2006/main">
              <a:ext uri="{FF2B5EF4-FFF2-40B4-BE49-F238E27FC236}">
                <a16:creationId xmlns:a16="http://schemas.microsoft.com/office/drawing/2014/main" id="{EEEC92E0-F2AD-4E76-90AA-E0E00714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76550"/>
            <a:ext cx="872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75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794年召集法兰克福会议，承担维护信仰的职责。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与罗马教皇、各地主教和修道院合作。</a:t>
            </a:r>
          </a:p>
        </p:txBody>
      </p:sp>
      <p:sp>
        <p:nvSpPr>
          <p:cNvPr id="11" name="text-95">
            <a:extLst xmlns:a="http://schemas.openxmlformats.org/drawingml/2006/main">
              <a:ext uri="{FF2B5EF4-FFF2-40B4-BE49-F238E27FC236}">
                <a16:creationId xmlns:a16="http://schemas.microsoft.com/office/drawing/2014/main" id="{101F56AA-3C04-4B77-96A8-7B1329AD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罗马的基督教皇权理想，在法兰克王权与教会合作中落实。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CCCA87E-C880-4599-AB27-33F90AF1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962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政治联系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6CFF959-6188-4EB8-906A-7E27DAEA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00500"/>
            <a:ext cx="8724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教皇加冕确认身份，主教参与宫廷与地方事务。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教会学校和修道院提供读写人才与书籍。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1F6DA64-819E-4E04-981D-97582856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lnSpc>
                <a:spcPct val="115000"/>
              </a:lnSpc>
              <a:buNone/>
              <a:defRPr sz="172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725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371074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96">
            <a:extLst xmlns:a="http://schemas.openxmlformats.org/drawingml/2006/main">
              <a:ext uri="{FF2B5EF4-FFF2-40B4-BE49-F238E27FC236}">
                <a16:creationId xmlns:a16="http://schemas.microsoft.com/office/drawing/2014/main" id="{CD97A67C-D6CA-46AE-9198-902725AB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权力关系</a:t>
            </a:r>
          </a:p>
        </p:txBody>
      </p:sp>
      <p:sp>
        <p:nvSpPr>
          <p:cNvPr id="2" name="text-97">
            <a:extLst xmlns:a="http://schemas.openxmlformats.org/drawingml/2006/main">
              <a:ext uri="{FF2B5EF4-FFF2-40B4-BE49-F238E27FC236}">
                <a16:creationId xmlns:a16="http://schemas.microsoft.com/office/drawing/2014/main" id="{7D5EC5A6-1785-42A5-88BF-6988D719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heading-9">
            <a:extLst xmlns:a="http://schemas.openxmlformats.org/drawingml/2006/main">
              <a:ext uri="{FF2B5EF4-FFF2-40B4-BE49-F238E27FC236}">
                <a16:creationId xmlns:a16="http://schemas.microsoft.com/office/drawing/2014/main" id="{6BEF4E50-C05D-4262-8EDE-15973577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权力关系：君主通过贵族合作行使权力</a:t>
            </a:r>
          </a:p>
        </p:txBody>
      </p:sp>
      <p:sp>
        <p:nvSpPr>
          <p:cNvPr id="4" name="rule-98">
            <a:extLst xmlns:a="http://schemas.openxmlformats.org/drawingml/2006/main">
              <a:ext uri="{FF2B5EF4-FFF2-40B4-BE49-F238E27FC236}">
                <a16:creationId xmlns:a16="http://schemas.microsoft.com/office/drawing/2014/main" id="{30676A92-5DA3-42B4-8482-9F177B38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-99">
            <a:extLst xmlns:a="http://schemas.openxmlformats.org/drawingml/2006/main">
              <a:ext uri="{FF2B5EF4-FFF2-40B4-BE49-F238E27FC236}">
                <a16:creationId xmlns:a16="http://schemas.microsoft.com/office/drawing/2014/main" id="{508EDE70-FA49-443A-BEA0-30086E3B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6" name="表格 5">
            <a:extLst xmlns:a="http://schemas.openxmlformats.org/drawingml/2006/main">
              <a:ext uri="{FF2B5EF4-FFF2-40B4-BE49-F238E27FC236}">
                <a16:creationId xmlns:a16="http://schemas.microsoft.com/office/drawing/2014/main" id="{414D386D-EEE1-4459-82E1-80DCF82C3327}"/>
              </a:ext>
            </a:extLst>
          </p:cNvPr>
          <p:cNvGraphicFramePr/>
          <p:nvPr/>
        </p:nvGraphicFramePr>
        <p:xfrm>
          <a:off xmlns:a="http://schemas.openxmlformats.org/drawingml/2006/main" x="609600" y="1733550"/>
          <a:ext xmlns:a="http://schemas.openxmlformats.org/drawingml/2006/main" cx="10972800" cy="3058479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714500"/>
                <a:gridCol w="3667125"/>
                <a:gridCol w="5591175"/>
              </a:tblGrid>
              <a:tr h="55245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比较层面</a:t>
                      </a:r>
                    </a:p>
                  </a:txBody>
                  <a:tcPr marL="142875" marR="142875" marT="114300" marB="114300" anchor="ctr">
                    <a:lnL w="9525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20344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晚期罗马皇帝</a:t>
                      </a:r>
                    </a:p>
                  </a:txBody>
                  <a:tcPr marL="142875" marR="142875" marT="114300" marB="114300" anchor="ctr">
                    <a:lnL w="9525" cmpd="sng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20344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查理曼</a:t>
                      </a:r>
                    </a:p>
                  </a:txBody>
                  <a:tcPr marL="142875" marR="142875" marT="114300" marB="114300" anchor="ctr">
                    <a:lnL w="9525" cmpd="sng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203443"/>
                    </a:solidFill>
                  </a:tcPr>
                </a:tc>
              </a:tr>
              <a:tr h="800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1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命令执行</a:t>
                      </a:r>
                    </a:p>
                  </a:txBody>
                  <a:tcPr marL="142875" marR="142875" marT="114300" marB="114300" anchor="ctr">
                    <a:lnL w="9525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mpd="sng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E8E3D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通过中央与行省官职</a:t>
                      </a: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传达和执行命令</a:t>
                      </a:r>
                    </a:p>
                  </a:txBody>
                  <a:tcPr marL="142875" marR="142875" marT="114300" marB="114300" anchor="ctr">
                    <a:lnL w="9525" cmpd="sng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mpd="sng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任用伯爵与主教</a:t>
                      </a: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派巡察使监督地方</a:t>
                      </a:r>
                    </a:p>
                  </a:txBody>
                  <a:tcPr marL="142875" marR="142875" marT="114300" marB="114300" anchor="ctr">
                    <a:lnL w="9525" cmpd="sng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mpd="sng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</a:tr>
              <a:tr h="800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1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军事动员</a:t>
                      </a:r>
                    </a:p>
                  </a:txBody>
                  <a:tcPr marL="142875" marR="142875" marT="114300" marB="114300" anchor="ctr">
                    <a:lnL w="9525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mpd="sng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E8E3D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通过军官职务</a:t>
                      </a: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统率帝国军队</a:t>
                      </a:r>
                    </a:p>
                  </a:txBody>
                  <a:tcPr marL="142875" marR="142875" marT="114300" marB="114300" anchor="ctr">
                    <a:lnL w="9525" cmpd="sng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mpd="sng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810年要求领主约束属从</a:t>
                      </a: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借效忠关系组织军役</a:t>
                      </a:r>
                    </a:p>
                  </a:txBody>
                  <a:tcPr marL="142875" marR="142875" marT="114300" marB="114300" anchor="ctr">
                    <a:lnL w="9525" cmpd="sng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mpd="sng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</a:tr>
              <a:tr h="800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1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政治支持</a:t>
                      </a:r>
                    </a:p>
                  </a:txBody>
                  <a:tcPr marL="142875" marR="142875" marT="114300" marB="114300" anchor="ctr">
                    <a:lnL w="9525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mpd="sng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E8E3D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军队与高级显贵</a:t>
                      </a: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影响帝位的稳定</a:t>
                      </a:r>
                    </a:p>
                  </a:txBody>
                  <a:tcPr marL="142875" marR="142875" marT="114300" marB="114300" anchor="ctr">
                    <a:lnL w="9525" cmpd="sng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mpd="sng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813年显贵赞同路易继位</a:t>
                      </a:r>
                    </a:p>
                    <a:p>
                      <a:pPr algn="l">
                        <a:lnSpc>
                          <a:spcPct val="110000"/>
                        </a:lnSpc>
                        <a:buNone/>
                      </a:pPr>
                      <a:r>
                        <a:rPr sz="1875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王朝安排通过协商落实</a:t>
                      </a:r>
                    </a:p>
                  </a:txBody>
                  <a:tcPr marL="142875" marR="142875" marT="114300" marB="114300" anchor="ctr">
                    <a:lnL w="9525" cmpd="sng">
                      <a:solidFill>
                        <a:srgbClr val="C9C4B9"/>
                      </a:solidFill>
                      <a:prstDash val="solid"/>
                    </a:lnL>
                    <a:lnR w="9525">
                      <a:solidFill>
                        <a:srgbClr val="C9C4B9"/>
                      </a:solidFill>
                      <a:prstDash val="solid"/>
                    </a:lnR>
                    <a:lnT w="9525" cmpd="sng">
                      <a:solidFill>
                        <a:srgbClr val="C9C4B9"/>
                      </a:solidFill>
                      <a:prstDash val="solid"/>
                    </a:lnT>
                    <a:lnB w="9525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  <p:sp>
        <p:nvSpPr>
          <p:cNvPr id="7" name="text-100">
            <a:extLst xmlns:a="http://schemas.openxmlformats.org/drawingml/2006/main">
              <a:ext uri="{FF2B5EF4-FFF2-40B4-BE49-F238E27FC236}">
                <a16:creationId xmlns:a16="http://schemas.microsoft.com/office/drawing/2014/main" id="{676E4651-4A91-48D9-B25F-FE4FF3F0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查理曼更直接依靠王朝与地方显贵、教会的合作。</a:t>
            </a:r>
          </a:p>
        </p:txBody>
      </p:sp>
    </p:spTree>
    <p:extLst>
      <p:ext uri="{BB962C8B-B14F-4D97-AF65-F5344CB8AC3E}">
        <p14:creationId xmlns:p14="http://schemas.microsoft.com/office/powerpoint/2010/main" val="3158924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101">
            <a:extLst xmlns:a="http://schemas.openxmlformats.org/drawingml/2006/main">
              <a:ext uri="{FF2B5EF4-FFF2-40B4-BE49-F238E27FC236}">
                <a16:creationId xmlns:a16="http://schemas.microsoft.com/office/drawing/2014/main" id="{CF6F0C90-16FF-4D87-B5C5-728F4308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比较与结论</a:t>
            </a:r>
          </a:p>
        </p:txBody>
      </p:sp>
      <p:sp>
        <p:nvSpPr>
          <p:cNvPr id="2" name="text-102">
            <a:extLst xmlns:a="http://schemas.openxmlformats.org/drawingml/2006/main">
              <a:ext uri="{FF2B5EF4-FFF2-40B4-BE49-F238E27FC236}">
                <a16:creationId xmlns:a16="http://schemas.microsoft.com/office/drawing/2014/main" id="{D394B6C6-374F-4676-9D7E-AB5A9A37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heading-10">
            <a:extLst xmlns:a="http://schemas.openxmlformats.org/drawingml/2006/main">
              <a:ext uri="{FF2B5EF4-FFF2-40B4-BE49-F238E27FC236}">
                <a16:creationId xmlns:a16="http://schemas.microsoft.com/office/drawing/2014/main" id="{325A10CB-ABF1-47D1-8F94-495D9F88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查理曼与罗马皇帝：四个维度的比较</a:t>
            </a:r>
          </a:p>
        </p:txBody>
      </p:sp>
      <p:sp>
        <p:nvSpPr>
          <p:cNvPr id="4" name="rule-103">
            <a:extLst xmlns:a="http://schemas.openxmlformats.org/drawingml/2006/main">
              <a:ext uri="{FF2B5EF4-FFF2-40B4-BE49-F238E27FC236}">
                <a16:creationId xmlns:a16="http://schemas.microsoft.com/office/drawing/2014/main" id="{90FB13DE-7552-40F5-8BCB-904B4EF4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-104">
            <a:extLst xmlns:a="http://schemas.openxmlformats.org/drawingml/2006/main">
              <a:ext uri="{FF2B5EF4-FFF2-40B4-BE49-F238E27FC236}">
                <a16:creationId xmlns:a16="http://schemas.microsoft.com/office/drawing/2014/main" id="{0B3D0BE9-DCCC-4EE1-BCB4-87E0F47B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text-112">
            <a:extLst xmlns:a="http://schemas.openxmlformats.org/drawingml/2006/main">
              <a:ext uri="{FF2B5EF4-FFF2-40B4-BE49-F238E27FC236}">
                <a16:creationId xmlns:a16="http://schemas.microsoft.com/office/drawing/2014/main" id="{2E9973CB-21B3-4ECE-99D4-C7D25B4D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285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rPr>
              <a:t>查理曼以法兰克王朝为根基，通过贵族与教会合作行使帝国权力。</a:t>
            </a:r>
            <a:endParaRPr sz="2850" b="1">
              <a:solidFill>
                <a:srgbClr val="9A443A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24B67B-896B-479F-8E89-949E54AC450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 firstRow="1" firstCol="1" bandRow="0"/>
              <a:tblGrid>
                <a:gridCol w="1581150"/>
                <a:gridCol w="4695825"/>
                <a:gridCol w="4695825"/>
              </a:tblGrid>
              <a:tr h="4953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比较维度</a:t>
                      </a:r>
                    </a:p>
                  </a:txBody>
                  <a:tcPr marL="133350" marR="114300" marT="76200" marB="76200" anchor="ctr">
                    <a:lnL w="8573">
                      <a:solidFill>
                        <a:srgbClr val="C9C4B9"/>
                      </a:solidFill>
                      <a:prstDash val="solid"/>
                    </a:lnL>
                    <a:lnR w="8573">
                      <a:solidFill>
                        <a:srgbClr val="C9C4B9"/>
                      </a:solidFill>
                      <a:prstDash val="solid"/>
                    </a:lnR>
                    <a:lnT w="8573">
                      <a:solidFill>
                        <a:srgbClr val="C9C4B9"/>
                      </a:solidFill>
                      <a:prstDash val="solid"/>
                    </a:lnT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20344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晚期罗马皇帝（4—5世纪）</a:t>
                      </a:r>
                    </a:p>
                  </a:txBody>
                  <a:tcPr marL="133350" marR="114300" marT="76200" marB="76200" anchor="ctr">
                    <a:lnR w="8573">
                      <a:solidFill>
                        <a:srgbClr val="C9C4B9"/>
                      </a:solidFill>
                      <a:prstDash val="solid"/>
                    </a:lnR>
                    <a:lnT w="8573">
                      <a:solidFill>
                        <a:srgbClr val="C9C4B9"/>
                      </a:solidFill>
                      <a:prstDash val="solid"/>
                    </a:lnT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203443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查理曼：新型欧洲君主</a:t>
                      </a:r>
                    </a:p>
                  </a:txBody>
                  <a:tcPr marL="133350" marR="114300" marT="76200" marB="76200" anchor="ctr">
                    <a:lnR w="8573">
                      <a:solidFill>
                        <a:srgbClr val="C9C4B9"/>
                      </a:solidFill>
                      <a:prstDash val="solid"/>
                    </a:lnR>
                    <a:lnT w="8573">
                      <a:solidFill>
                        <a:srgbClr val="C9C4B9"/>
                      </a:solidFill>
                      <a:prstDash val="solid"/>
                    </a:lnT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203443"/>
                    </a:solidFill>
                  </a:tcPr>
                </a:tc>
              </a:tr>
              <a:tr h="800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9A44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合法性</a:t>
                      </a:r>
                    </a:p>
                  </a:txBody>
                  <a:tcPr marL="133350" marR="114300" marT="76200" marB="76200" anchor="ctr">
                    <a:lnL w="8573">
                      <a:solidFill>
                        <a:srgbClr val="C9C4B9"/>
                      </a:solidFill>
                      <a:prstDash val="solid"/>
                    </a:lnL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E9E4D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以帝国最高统治者身份行使权力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敕令与帝国法律表达公共权威</a:t>
                      </a:r>
                    </a:p>
                  </a:txBody>
                  <a:tcPr marL="133350" marR="114300" marT="76200" marB="76200" anchor="ctr"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先有法兰克与伦巴第王权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800年加冕，皇帝与国王称号并存</a:t>
                      </a:r>
                    </a:p>
                  </a:txBody>
                  <a:tcPr marL="133350" marR="114300" marT="76200" marB="76200" anchor="ctr"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</a:tr>
              <a:tr h="800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9A44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宫廷组成</a:t>
                      </a:r>
                    </a:p>
                  </a:txBody>
                  <a:tcPr marL="133350" marR="114300" marT="76200" marB="76200" anchor="ctr">
                    <a:lnL w="8573">
                      <a:solidFill>
                        <a:srgbClr val="C9C4B9"/>
                      </a:solidFill>
                      <a:prstDash val="solid"/>
                    </a:lnL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E9E4D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高官与谘议机构统筹帝国政务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文书、司法、财政由不同官职处理</a:t>
                      </a:r>
                    </a:p>
                  </a:txBody>
                  <a:tcPr marL="133350" marR="114300" marT="76200" marB="76200" anchor="ctr"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王族、世俗显贵与教会人士共事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希尔德巴尔德兼任主教与宫廷职务</a:t>
                      </a:r>
                    </a:p>
                  </a:txBody>
                  <a:tcPr marL="133350" marR="114300" marT="76200" marB="76200" anchor="ctr"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</a:tr>
              <a:tr h="800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9A44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宗教地位</a:t>
                      </a:r>
                    </a:p>
                  </a:txBody>
                  <a:tcPr marL="133350" marR="114300" marT="76200" marB="76200" anchor="ctr">
                    <a:lnL w="8573">
                      <a:solidFill>
                        <a:srgbClr val="C9C4B9"/>
                      </a:solidFill>
                      <a:prstDash val="solid"/>
                    </a:lnL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E9E4D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皇帝维护信仰并参与教会事务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君士坦丁召集尼西亚会议</a:t>
                      </a:r>
                    </a:p>
                  </a:txBody>
                  <a:tcPr marL="133350" marR="114300" marT="76200" marB="76200" anchor="ctr"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继承护教职责，紧密联结教会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教皇加冕、主教参政与教会办学</a:t>
                      </a:r>
                    </a:p>
                  </a:txBody>
                  <a:tcPr marL="133350" marR="114300" marT="76200" marB="76200" anchor="ctr"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</a:tr>
              <a:tr h="8001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950" b="1">
                          <a:solidFill>
                            <a:srgbClr val="9A44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权力关系</a:t>
                      </a:r>
                    </a:p>
                  </a:txBody>
                  <a:tcPr marL="133350" marR="114300" marT="76200" marB="76200" anchor="ctr">
                    <a:lnL w="8573">
                      <a:solidFill>
                        <a:srgbClr val="C9C4B9"/>
                      </a:solidFill>
                      <a:prstDash val="solid"/>
                    </a:lnL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E9E4D9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中央与行省官职衔接统治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军队与高级显贵影响帝位稳定</a:t>
                      </a:r>
                    </a:p>
                  </a:txBody>
                  <a:tcPr marL="133350" marR="114300" marT="76200" marB="76200" anchor="ctr"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伯爵、巡察使与领主共同落实命令</a:t>
                      </a:r>
                    </a:p>
                    <a:p>
                      <a:pPr algn="l">
                        <a:lnSpc>
                          <a:spcPct val="108000"/>
                        </a:lnSpc>
                        <a:buNone/>
                      </a:pPr>
                      <a:r>
                        <a:rPr sz="1800" b="0">
                          <a:solidFill>
                            <a:srgbClr val="2034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810年约束属从，813年协商继承</a:t>
                      </a:r>
                    </a:p>
                  </a:txBody>
                  <a:tcPr marL="133350" marR="114300" marT="76200" marB="76200" anchor="ctr">
                    <a:lnR w="8573">
                      <a:solidFill>
                        <a:srgbClr val="C9C4B9"/>
                      </a:solidFill>
                      <a:prstDash val="solid"/>
                    </a:lnR>
                    <a:lnB w="8573">
                      <a:solidFill>
                        <a:srgbClr val="C9C4B9"/>
                      </a:solidFill>
                      <a:prstDash val="solid"/>
                    </a:lnB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059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13">
            <a:extLst xmlns:a="http://schemas.openxmlformats.org/drawingml/2006/main">
              <a:ext uri="{FF2B5EF4-FFF2-40B4-BE49-F238E27FC236}">
                <a16:creationId xmlns:a16="http://schemas.microsoft.com/office/drawing/2014/main" id="{289B1E7C-276C-487A-8B07-1DDDFB28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981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中世纪欧洲文明   /   附录 · 书目</a:t>
            </a:r>
          </a:p>
        </p:txBody>
      </p:sp>
      <p:sp>
        <p:nvSpPr>
          <p:cNvPr id="2" name="text-114">
            <a:extLst xmlns:a="http://schemas.openxmlformats.org/drawingml/2006/main">
              <a:ext uri="{FF2B5EF4-FFF2-40B4-BE49-F238E27FC236}">
                <a16:creationId xmlns:a16="http://schemas.microsoft.com/office/drawing/2014/main" id="{B1AAFEBF-A3CF-44BC-82B4-C1F400B3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47650"/>
            <a:ext cx="609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2000"/>
              </a:lnSpc>
              <a:buNone/>
              <a:defRPr sz="135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heading-11">
            <a:extLst xmlns:a="http://schemas.openxmlformats.org/drawingml/2006/main">
              <a:ext uri="{FF2B5EF4-FFF2-40B4-BE49-F238E27FC236}">
                <a16:creationId xmlns:a16="http://schemas.microsoft.com/office/drawing/2014/main" id="{D9EA11AC-4D9B-4E5C-9495-3C4A6309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参考书目与页码说明</a:t>
            </a:r>
          </a:p>
        </p:txBody>
      </p:sp>
      <p:sp>
        <p:nvSpPr>
          <p:cNvPr id="4" name="rule-115">
            <a:extLst xmlns:a="http://schemas.openxmlformats.org/drawingml/2006/main">
              <a:ext uri="{FF2B5EF4-FFF2-40B4-BE49-F238E27FC236}">
                <a16:creationId xmlns:a16="http://schemas.microsoft.com/office/drawing/2014/main" id="{36388BAA-ABAF-450C-A926-3FDC4CBDF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4B9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text-116">
            <a:extLst xmlns:a="http://schemas.openxmlformats.org/drawingml/2006/main">
              <a:ext uri="{FF2B5EF4-FFF2-40B4-BE49-F238E27FC236}">
                <a16:creationId xmlns:a16="http://schemas.microsoft.com/office/drawing/2014/main" id="{D947860F-524F-423A-A2D4-0E8C591A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817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223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endParaRPr sz="1223" b="0">
              <a:solidFill>
                <a:srgbClr val="59646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text-117">
            <a:extLst xmlns:a="http://schemas.openxmlformats.org/drawingml/2006/main">
              <a:ext uri="{FF2B5EF4-FFF2-40B4-BE49-F238E27FC236}">
                <a16:creationId xmlns:a16="http://schemas.microsoft.com/office/drawing/2014/main" id="{51A7C227-D0A3-48B1-A782-D197FC00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艾因哈德《查理大帝传》</a:t>
            </a:r>
          </a:p>
        </p:txBody>
      </p:sp>
      <p:sp>
        <p:nvSpPr>
          <p:cNvPr id="7" name="text-118">
            <a:extLst xmlns:a="http://schemas.openxmlformats.org/drawingml/2006/main">
              <a:ext uri="{FF2B5EF4-FFF2-40B4-BE49-F238E27FC236}">
                <a16:creationId xmlns:a16="http://schemas.microsoft.com/office/drawing/2014/main" id="{D994B48C-608D-439D-9832-1B7CB0F7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10—12、28—31页</a:t>
            </a:r>
          </a:p>
        </p:txBody>
      </p:sp>
      <p:sp>
        <p:nvSpPr>
          <p:cNvPr id="8" name="text-119">
            <a:extLst xmlns:a="http://schemas.openxmlformats.org/drawingml/2006/main">
              <a:ext uri="{FF2B5EF4-FFF2-40B4-BE49-F238E27FC236}">
                <a16:creationId xmlns:a16="http://schemas.microsoft.com/office/drawing/2014/main" id="{E2FE95A5-C53C-4BFE-8C74-2B5EC397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巴尔贝罗《查理大帝：欧洲之父》</a:t>
            </a:r>
          </a:p>
        </p:txBody>
      </p:sp>
      <p:sp>
        <p:nvSpPr>
          <p:cNvPr id="9" name="text-120">
            <a:extLst xmlns:a="http://schemas.openxmlformats.org/drawingml/2006/main">
              <a:ext uri="{FF2B5EF4-FFF2-40B4-BE49-F238E27FC236}">
                <a16:creationId xmlns:a16="http://schemas.microsoft.com/office/drawing/2014/main" id="{08A7810D-9249-4E46-9D21-BA386AF3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113、146—149、206—210、231—239、271—272页</a:t>
            </a:r>
          </a:p>
        </p:txBody>
      </p:sp>
      <p:sp>
        <p:nvSpPr>
          <p:cNvPr id="10" name="text-121">
            <a:extLst xmlns:a="http://schemas.openxmlformats.org/drawingml/2006/main">
              <a:ext uri="{FF2B5EF4-FFF2-40B4-BE49-F238E27FC236}">
                <a16:creationId xmlns:a16="http://schemas.microsoft.com/office/drawing/2014/main" id="{E0A4D83A-E549-4823-A390-5BC61231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布洛赫《封建社会》上卷</a:t>
            </a:r>
          </a:p>
        </p:txBody>
      </p:sp>
      <p:sp>
        <p:nvSpPr>
          <p:cNvPr id="11" name="text-122">
            <a:extLst xmlns:a="http://schemas.openxmlformats.org/drawingml/2006/main">
              <a:ext uri="{FF2B5EF4-FFF2-40B4-BE49-F238E27FC236}">
                <a16:creationId xmlns:a16="http://schemas.microsoft.com/office/drawing/2014/main" id="{CC4981B1-EC24-4417-817A-CCC66091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266—269页</a:t>
            </a:r>
          </a:p>
        </p:txBody>
      </p:sp>
      <p:sp>
        <p:nvSpPr>
          <p:cNvPr id="12" name="text-123">
            <a:extLst xmlns:a="http://schemas.openxmlformats.org/drawingml/2006/main">
              <a:ext uri="{FF2B5EF4-FFF2-40B4-BE49-F238E27FC236}">
                <a16:creationId xmlns:a16="http://schemas.microsoft.com/office/drawing/2014/main" id="{D6D4A1C1-CA2E-423C-92DD-2A34D43A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Janet L. Nelson, King and Emperor: A New Life of Charlemagne</a:t>
            </a:r>
          </a:p>
        </p:txBody>
      </p:sp>
      <p:sp>
        <p:nvSpPr>
          <p:cNvPr id="13" name="text-124">
            <a:extLst xmlns:a="http://schemas.openxmlformats.org/drawingml/2006/main">
              <a:ext uri="{FF2B5EF4-FFF2-40B4-BE49-F238E27FC236}">
                <a16:creationId xmlns:a16="http://schemas.microsoft.com/office/drawing/2014/main" id="{EFDA4D45-7D80-45D1-84BF-15C6E26F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PDF 46、175、251、320、338、369、389、405—408、480—481、497—500、515页</a:t>
            </a:r>
          </a:p>
        </p:txBody>
      </p:sp>
      <p:sp>
        <p:nvSpPr>
          <p:cNvPr id="14" name="text-125">
            <a:extLst xmlns:a="http://schemas.openxmlformats.org/drawingml/2006/main">
              <a:ext uri="{FF2B5EF4-FFF2-40B4-BE49-F238E27FC236}">
                <a16:creationId xmlns:a16="http://schemas.microsoft.com/office/drawing/2014/main" id="{BE7EF4E9-3167-4AEB-99BD-199F1217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皮朗《穆罕默德和查理曼》</a:t>
            </a:r>
          </a:p>
        </p:txBody>
      </p:sp>
      <p:sp>
        <p:nvSpPr>
          <p:cNvPr id="15" name="text-126">
            <a:extLst xmlns:a="http://schemas.openxmlformats.org/drawingml/2006/main">
              <a:ext uri="{FF2B5EF4-FFF2-40B4-BE49-F238E27FC236}">
                <a16:creationId xmlns:a16="http://schemas.microsoft.com/office/drawing/2014/main" id="{ED26B4EA-59DD-4F4A-9ECE-1DF72DBF1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 b="0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290页文化延续；译者前言4页（PDF 10）：经济解释的争议</a:t>
            </a:r>
          </a:p>
        </p:txBody>
      </p:sp>
      <p:sp>
        <p:nvSpPr>
          <p:cNvPr id="16" name="text-127">
            <a:extLst xmlns:a="http://schemas.openxmlformats.org/drawingml/2006/main">
              <a:ext uri="{FF2B5EF4-FFF2-40B4-BE49-F238E27FC236}">
                <a16:creationId xmlns:a16="http://schemas.microsoft.com/office/drawing/2014/main" id="{32148911-EDA0-419E-ABCC-A389752A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A443A"/>
                </a:solidFill>
                <a:latin typeface="Microsoft YaHei"/>
                <a:ea typeface="Microsoft YaHei"/>
                <a:cs typeface="Microsoft YaHei"/>
              </a:defRPr>
            </a:pPr>
            <a:endParaRPr sz="1500" b="0">
              <a:solidFill>
                <a:srgbClr val="9A443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889568-3431-430D-980B-2337FF76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03443"/>
                </a:solidFill>
                <a:latin typeface="Microsoft YaHei"/>
                <a:ea typeface="Microsoft YaHei"/>
                <a:cs typeface="Microsoft YaHei"/>
              </a:rPr>
              <a:t>《剑桥插图中世纪史》上册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D9F5B3-D1B1-488B-B8AB-3A869811E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buNone/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buNone/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buNone/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buNone/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buNone/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buNone/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buNone/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buNone/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buNone/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77">
                <a:solidFill>
                  <a:srgbClr val="59646B"/>
                </a:solidFill>
                <a:latin typeface="Microsoft YaHei"/>
                <a:ea typeface="Microsoft YaHei"/>
                <a:cs typeface="Microsoft YaHei"/>
              </a:rPr>
              <a:t>19—24页（PDF 26—31）：晚期罗马皇帝、宫廷与权力关系</a:t>
            </a:r>
          </a:p>
        </p:txBody>
      </p:sp>
    </p:spTree>
    <p:extLst>
      <p:ext uri="{BB962C8B-B14F-4D97-AF65-F5344CB8AC3E}">
        <p14:creationId xmlns:p14="http://schemas.microsoft.com/office/powerpoint/2010/main" val="14039845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2026-10-30T07:05:50.2500000Z</dcterms:created>
  <dcterms:modified xsi:type="dcterms:W3CDTF">2026-10-30T07:05:50.2500000Z</dcterms:modified>
</coreProperties>
</file>