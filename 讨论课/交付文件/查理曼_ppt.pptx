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第1页  0:00—0:20</a:t>
            </a:r>
          </a:p>
          <a:p>
            <a:endParaRPr/>
          </a:p>
          <a:p>
            <a:r>
              <a:t>大家好。今天我们想从查理曼怎样治理帝国，来回答他究竟是哪一种君主。我们的看法是，他确实继承了罗马皇帝的身份和理想，但如果看他如何管理地方、召集军队和处理政务，我们更倾向于把他看作一位新型欧洲君主。</a:t>
            </a:r>
          </a:p>
          <a:p>
            <a:endParaRPr/>
          </a:p>
          <a:p>
            <a:r>
              <a:t>本页参考：立论依据：艾因哈德《查理大帝传》30页；布洛赫《封建社会》上卷266—269页。</a:t>
            </a:r>
          </a:p>
          <a:p>
            <a:r>
              <a:t>页码说明：中文书默认书内页码，括号内为PDF顺序页码。Nelson采用PDF页码。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第2页  0:20—1:30</a:t>
            </a:r>
          </a:p>
          <a:p>
            <a:endParaRPr/>
          </a:p>
          <a:p>
            <a:r>
              <a:t>先看罗马传统。800年加冕以后，查理曼从801年起使用包含“治理罗马帝国的皇帝”的文书称号。这表明，他希望以罗马帝国的继承者自居。其次，是君主介入教会事务。晚期罗马皇帝曾召集教会会议；查理曼也在794年召集法兰克福会议，参与教义争议的处理。</a:t>
            </a:r>
          </a:p>
          <a:p>
            <a:endParaRPr/>
          </a:p>
          <a:p>
            <a:r>
              <a:t>第三，是罗马法的实际运用。Nelson记载，加冕后，查理曼按罗马法审理袭击教皇的人。因此，罗马传统在他的统治中有具体内容。不过，某些案件援用罗马法，不等于整个帝国实行统一的罗马法。各地法律继续并存，正是他实际统治时必须面对的条件。</a:t>
            </a:r>
          </a:p>
          <a:p>
            <a:endParaRPr/>
          </a:p>
          <a:p>
            <a:r>
              <a:t>本页参考：Nelson, King and Emperor, PDF 251页（君士坦丁召集325年尼西亚会议）、405页（按罗马法审理袭击教皇者）、407—408页（801年文书称号）；巴尔贝罗《查理大帝：欧洲之父》238—239页（PDF 247—248，794年法兰克福会议）、210页（PDF 219，多种法律并存）。</a:t>
            </a:r>
          </a:p>
          <a:p>
            <a:r>
              <a:t>页码说明：中文书使用书内页码，括号内为PDF顺序页码；Nelson统一使用PDF顺序页码。</a:t>
            </a:r>
          </a:p>
          <a:p>
            <a:r>
              <a:t>答辩补充：亚琛礼拜堂借用罗马与拉文纳的建筑材料，见艾因哈德《查理大帝传》28页（PDF 37）；812年东方承认其皇帝地位，见Nelson, PDF 480—481页。宗教会议的比较说明统治职责上的延续，并非断言法兰克福会议与罗马帝国会议具有完全相同的地位。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第3页  1:30—2:10</a:t>
            </a:r>
          </a:p>
          <a:p>
            <a:endParaRPr/>
          </a:p>
          <a:p>
            <a:r>
              <a:t>判断查理曼的性质，既要看皇帝称号，也要看他怎样治理地方。他接手的法兰克社会，已有伯爵主持地方司法、自由民参加公共法庭，以及领主与属从之间的关系。困难也很具体：伯爵可能徇私，普通人频繁出庭负担很重，君主又缺少人手直接组织各地人员。接下来我们看，他怎样加强监督、调整出庭义务，并借领主执行命令。</a:t>
            </a:r>
          </a:p>
          <a:p>
            <a:endParaRPr/>
          </a:p>
          <a:p>
            <a:r>
              <a:t>本页参考：巴尔贝罗《查理大帝：欧洲之父》206—210页（PDF 215—219）；布洛赫《封建社会》上卷266—269页（PDF 288—291）。</a:t>
            </a:r>
          </a:p>
          <a:p>
            <a:r>
              <a:t>页码说明：中文书使用书内页码，括号内为PDF顺序页码；Nelson统一使用PDF顺序页码。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第4页  2:10—3:20</a:t>
            </a:r>
          </a:p>
          <a:p>
            <a:endParaRPr/>
          </a:p>
          <a:p>
            <a:r>
              <a:t>查理曼最显眼的功绩，是通过战争扩大法兰克统治。774年，他征服伦巴第王国，把意大利北部纳入自己的统治。但征服之后，伦巴第人仍保留了自己的法律和一些政治传统。服从同一位君主，并不代表各地马上采用同一套制度。</a:t>
            </a:r>
          </a:p>
          <a:p>
            <a:endParaRPr/>
          </a:p>
          <a:p>
            <a:r>
              <a:t>萨克森战争则显示了征服的另一面。艾因哈德记载，查理曼迁走了大批萨克森人，并要求归顺者接受基督教。这些战争扩大了帝国，也伴随着强迫和暴力。领土扩大以后，君主必须更多地依靠地方官员。伯爵掌管审判，如果他们徇私受贿，君主要求的公正就很难实现。因此，我们先看查理曼怎样监督地方司法，再看他怎样借领主组织人员。</a:t>
            </a:r>
          </a:p>
          <a:p>
            <a:endParaRPr/>
          </a:p>
          <a:p>
            <a:r>
              <a:t>本页参考：艾因哈德《查理大帝传》10、12页（PDF 19、21）；Nelson, King and Emperor, PDF 175页；巴尔贝罗《查理大帝：欧洲之父》206—210页（PDF 215—219）；地图：巴尔贝罗书前地图（PDF 5）。</a:t>
            </a:r>
          </a:p>
          <a:p>
            <a:r>
              <a:t>页码说明：中文书使用书内页码，括号内为PDF顺序页码；Nelson统一使用PDF顺序页码。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第5页  3:20—5:10</a:t>
            </a:r>
          </a:p>
          <a:p>
            <a:endParaRPr/>
          </a:p>
          <a:p>
            <a:r>
              <a:t>先看司法。伯爵在地方上有很大的权力，如果他偏袒有势力的人，或者自己收受贿赂，普通人就很难得到公正的判决。巴尔贝罗提到过官员侵占寡妇财产的案件，最后需要君主派人干预。789年的训令也要求法官不得收礼。这些记载说明，地方司法的问题相当具体，查理曼也确实试图加以纠正。</a:t>
            </a:r>
          </a:p>
          <a:p>
            <a:endParaRPr/>
          </a:p>
          <a:p>
            <a:r>
              <a:t>他的做法主要有几项。首先，派巡察使到地方了解情况，检查伯爵怎样办案。其次，让一批相对固定的人员辅助审判，也就是书中提到的斯卡比尼。这些人经常参与案件，比临时召集的人更有机会熟悉法律。809年，他又减轻了普通自由民出席公共法庭的负担。一般人不必频繁到场，但涉及自己的案件等情况仍要出席，更多审判事务则由指定人员承担。</a:t>
            </a:r>
          </a:p>
          <a:p>
            <a:endParaRPr/>
          </a:p>
          <a:p>
            <a:r>
              <a:t>这些措施的意义，在于查理曼开始具体调整谁来审案、谁来监督，以及普通人需要承担多少义务。改革当然也有限度，审判人员的选择仍可能受伯爵影响，各地也继续使用不同法律。因此，这里值得肯定的是他改善地方司法的努力。它能让我们看到，查理曼除了要求臣民服从，也在设法约束替他行使权力的人。</a:t>
            </a:r>
          </a:p>
          <a:p>
            <a:endParaRPr/>
          </a:p>
          <a:p>
            <a:r>
              <a:t>本页参考：巴尔贝罗《查理大帝：欧洲之父》206—210页（PDF 215—219）；Nelson, King and Emperor, PDF 204页。</a:t>
            </a:r>
          </a:p>
          <a:p>
            <a:r>
              <a:t>页码说明：中文书默认书内页码，括号内为PDF顺序页码。Nelson采用PDF页码。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第6页  5:10—7:00</a:t>
            </a:r>
          </a:p>
          <a:p>
            <a:endParaRPr/>
          </a:p>
          <a:p>
            <a:r>
              <a:t>上一页说的是怎样监督地方官。这里的问题是，君主靠谁把人组织起来。先分清两种关系：臣民对君主的效忠，是一种政治义务；附庸关系则发生在特定的领主和属从之间，附庸承诺忠诚和服务，领主承担保护责任。两者可以重叠，但不能把所有宣誓的臣民都叫作附庸。</a:t>
            </a:r>
          </a:p>
          <a:p>
            <a:endParaRPr/>
          </a:p>
          <a:p>
            <a:r>
              <a:t>为什么要借助领主？布洛赫指出，当时官员少，交通又不方便，君主很难直接联系到每个人。810年的规定要求领主管束自己的属从，使他们服从皇帝命令。这把已有的个人关系与王权的要求联系起来。具体来说，领主要督促附庸出庭、履行军役；如果领主亲自参战，附庸由他率领，领主不在场时，则由伯爵直接指挥。</a:t>
            </a:r>
          </a:p>
          <a:p>
            <a:endParaRPr/>
          </a:p>
          <a:p>
            <a:r>
              <a:t>所以，这种关系能够帮助查理曼组织军队、落实义务，说明他在尝试利用地方力量加强统治。不过，命令能否落实也取决于领主是否合作。我们不能因此认定国家权力已被私人关系完全取代，也不能把当时的伯爵都看成后来的世袭封建领主。</a:t>
            </a:r>
          </a:p>
          <a:p>
            <a:endParaRPr/>
          </a:p>
          <a:p>
            <a:r>
              <a:t>本页参考：布洛赫《封建社会》上卷266—269页（PDF 288—291）：267页解释官员与交通条件的限制，并转述810年的规定；268页说明出庭、军役和战场指挥关系。臣民效忠与附庸关系的区分，另参巴尔贝罗《查理大帝：欧洲之父》146—149页（PDF 155—158）。</a:t>
            </a:r>
          </a:p>
          <a:p>
            <a:r>
              <a:t>页码说明：中文书使用书内页码，括号内为PDF顺序页码。</a:t>
            </a:r>
          </a:p>
          <a:p>
            <a:r>
              <a:t>答辩补充：军役和出庭的具体安排据布洛赫第268页概括，不将这些细节都当作810年法令的原文。一般臣民的效忠誓言不自动构成附庸关系，伯爵的公共职务也不能直接等同于私人依附。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第7页  7:00—8:10</a:t>
            </a:r>
          </a:p>
          <a:p>
            <a:endParaRPr/>
          </a:p>
          <a:p>
            <a:r>
              <a:t>教育和书写改革可以用三件具体的事来说明。第一，789年训令要求教会办学，教授语法、诗篇和历法计算等知识。目的首先是让教士更准确地理解信仰，同时也培养了能读写拉丁文的人。第二，阿尔昆在图尔校订《圣经》，抄本通过宫廷和修道院传播，使不同地区更容易取得、使用较可靠的文本。</a:t>
            </a:r>
          </a:p>
          <a:p>
            <a:endParaRPr/>
          </a:p>
          <a:p>
            <a:r>
              <a:t>第三，加洛林小写字体逐渐传播，字形清晰，方便阅读和抄写。它没有马上取代所有地方字体，也不能算查理曼个人的发明。这些改革与治理的联系，在于学校培养读写人员，书籍和书写规范方便交流，教会也能提供处理文书的人才。不过，办学训令并不意味着各地都已落实。</a:t>
            </a:r>
          </a:p>
          <a:p>
            <a:endParaRPr/>
          </a:p>
          <a:p>
            <a:r>
              <a:t>本页参考：巴尔贝罗《查理大帝：欧洲之父》231—237页（PDF 240—246）：232—233页为办学要求及落实情况；231、234页为阿尔昆的《圣经》校订及抄本传播；236—237页为加洛林小写字体。</a:t>
            </a:r>
          </a:p>
          <a:p>
            <a:r>
              <a:t>页码说明：中文书使用书内页码，括号内为PDF顺序页码。</a:t>
            </a:r>
          </a:p>
          <a:p>
            <a:r>
              <a:t>答辩补充：这些材料首先描述宗教教育与书籍生产；“有助于政务沟通”是结合读写人才和跨地区文本交流作出的分析，不能据此断言所有官府文书都已采用同一种字体。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第8页  8:10—9:30</a:t>
            </a:r>
          </a:p>
          <a:p>
            <a:endParaRPr/>
          </a:p>
          <a:p>
            <a:r>
              <a:t>前面讲了治理和教育，这些做法怎样支持“欧洲君主”的判断？先看统治重心。古罗马围绕地中海，查理曼帝国则以莱茵河流域为重心，亚琛成为重要的政治中心。但位置在欧洲，还不足以说明君主的性质。关键是他依靠伯爵、地方领主和教会，把西欧、中欧部分地区与意大利北部联系在同一统治之下。</a:t>
            </a:r>
          </a:p>
          <a:p>
            <a:endParaRPr/>
          </a:p>
          <a:p>
            <a:r>
              <a:t>文化往来还超出了帝国疆界。艾因哈德记载，来自不列颠的阿尔昆和来自比萨的彼得，都曾在宫廷任教；拉丁文书籍也在宫廷和修道院之间流通。因此，这里的“欧洲性”，指这些地区在法兰克王权和拉丁基督教文化中的联系。结合前面介绍的治理办法，我们才更倾向于称他为新型欧洲君主。这不意味着他创造了现代欧洲，也不意味着他统治了整个欧洲。</a:t>
            </a:r>
          </a:p>
          <a:p>
            <a:endParaRPr/>
          </a:p>
          <a:p>
            <a:r>
              <a:t>本页参考：巴尔贝罗《查理大帝：欧洲之父》113页（PDF 122，地理重心）、234页（PDF 243，书籍流通）；艾因哈德《查理大帝传》28页（PDF 37，彼得与阿尔昆）；布洛赫《封建社会》上卷266—269页（PDF 288—291，地方联系）；Nelson, King and Emperor, PDF 408页（亚琛作为新的权力中心）、515页（反对以“欧洲之父”为预定结论）。</a:t>
            </a:r>
          </a:p>
          <a:p>
            <a:r>
              <a:t>页码说明：中文书使用书内页码，括号内为PDF顺序页码；Nelson使用PDF顺序页码。</a:t>
            </a:r>
          </a:p>
          <a:p>
            <a:r>
              <a:t>论证说明：地理重心只是比较的起点；君主性质的判断须结合第5—7页的治理方式。学者跨地区活动说明文化联系，不表示不列颠属于查理曼帝国。艾因哈德中译本称阿尔昆为“阿尔昆或阿尔宾”，此处统一采用阿尔昆。</a:t>
            </a:r>
          </a:p>
          <a:p>
            <a:r>
              <a:t>材料衔接：延续张元赫稿的地理比较，并把张智语稿中的文化教育论述落实到人员与文本的往来。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第9页  9:30—10:40</a:t>
            </a:r>
          </a:p>
          <a:p>
            <a:endParaRPr/>
          </a:p>
          <a:p>
            <a:r>
              <a:t>把这些证据放在一起看，就能发现延续与变化是同时存在的。查理曼使用皇帝称号，希望维护基督教秩序，也把主持正义看作君主的责任。这些都能在罗马传统中找到依据。但到了具体办事的时候，他要派巡察使检查伯爵，要借领主召集人员，还要依靠教士处理文书和维持各地联系。</a:t>
            </a:r>
          </a:p>
          <a:p>
            <a:endParaRPr/>
          </a:p>
          <a:p>
            <a:r>
              <a:t>这些办法都有各自的来历，查理曼的特点在于怎样使用它们。司法改革让君主更有机会过问地方事务，附庸关系帮助他召集军队，却也使他依赖地方领主。加上帝国重心位于欧洲大陆，我们认为新型欧洲君主更能说明他的实际处境。这个判断承认他对罗马的继承，同时也解释了为什么他的帝国没有照搬古罗马。</a:t>
            </a:r>
          </a:p>
          <a:p>
            <a:endParaRPr/>
          </a:p>
          <a:p>
            <a:r>
              <a:t>本页参考：综合：艾因哈德《查理大帝传》28、30页；巴尔贝罗《查理大帝：欧洲之父》113、206—210、229页；布洛赫《封建社会》上卷266—269页。</a:t>
            </a:r>
          </a:p>
          <a:p>
            <a:r>
              <a:t>页码说明：中文书默认书内页码，括号内为PDF顺序页码。Nelson采用PDF页码。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第10页  10:40—11:30</a:t>
            </a:r>
          </a:p>
          <a:p>
            <a:endParaRPr/>
          </a:p>
          <a:p>
            <a:r>
              <a:t>回到讨论题，查理曼的主要功绩，是扩大法兰克统治，整顿地方司法，并支持教会教育和拉丁文化。帝国后来发生分裂，但教会之间的往来、书籍抄写和共同的拉丁文化并未因此消失。评价他的影响，不能只看政治统一维持了多久。</a:t>
            </a:r>
          </a:p>
          <a:p>
            <a:endParaRPr/>
          </a:p>
          <a:p>
            <a:r>
              <a:t>因此，我们更倾向于称他为新型欧洲君主。他继承了罗马皇帝的理想，统治的重心在法兰克地区，也需要地方贵族和教会合作。前面讨论的司法、附庸关系和文化教育，正好说明了这种统治的特点。谢谢大家。</a:t>
            </a:r>
          </a:p>
          <a:p>
            <a:endParaRPr/>
          </a:p>
          <a:p>
            <a:r>
              <a:t>本页参考：结论依据：艾因哈德《查理大帝传》10—12页；巴尔贝罗《查理大帝：欧洲之父》113、206—210、231—237页；布洛赫《封建社会》上卷266—269页；皮朗《穆罕默德和查理曼》290页（PDF 322）。</a:t>
            </a:r>
          </a:p>
          <a:p>
            <a:r>
              <a:t>页码说明：中文书默认书内页码，括号内为PDF顺序页码。Nelson采用PDF页码。</a:t>
            </a:r>
          </a:p>
          <a:p>
            <a:r>
              <a:t>答辩补充：帝国后来分裂，是否说明查理曼的建设失败了？</a:t>
            </a:r>
          </a:p>
          <a:p>
            <a:r>
              <a:t>要分别看政治统一和文化影响。分裂说明查理曼没有建立起能长期维持统一的政治秩序，但不能据此否定所有成果。皮朗在第290页强调，政治统一结束后，共同文化仍可延续。书籍的保存与流通，以及拉丁文教育和书写规范，就是理解这种影响的具体例子。不过，这不意味着巡察使等制度原样延续，也不能把后来的欧洲都归功于查理曼。</a:t>
            </a:r>
          </a:p>
          <a:p>
            <a:r>
              <a:t>依据：皮朗《穆罕默德和查理曼》290页（PDF 322）；巴尔贝罗《查理大帝：欧洲之父》232—237页（PDF 241—246）。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第11页  不计入主讲</a:t>
            </a:r>
          </a:p>
          <a:p>
            <a:endParaRPr/>
          </a:p>
          <a:p>
            <a:endParaRPr/>
          </a:p>
          <a:p>
            <a:endParaRPr/>
          </a:p>
          <a:p>
            <a:r>
              <a:t>本页参考：本页所列书目均来自本组课程资料文件夹；各页演讲者备注保留对应书名及定位页码。</a:t>
            </a:r>
          </a:p>
          <a:p>
            <a:r>
              <a:t>页码说明：中文书默认书内页码，括号内为PDF顺序页码。Nelson采用PDF页码。</a:t>
            </a:r>
          </a:p>
          <a:p>
            <a:r>
              <a:t>完整书目：</a:t>
            </a:r>
          </a:p>
          <a:p>
            <a:r>
              <a:t>[法兰克] 艾因哈德著。课程提供中译本扫描件。《查理大帝传》；书内10—12、28—31页；对应PDF 19—21、37—40页。</a:t>
            </a:r>
          </a:p>
          <a:p>
            <a:r>
              <a:t>[意] 亚历桑德罗·巴尔贝罗著。课程提供中译本扫描件。《查理大帝：欧洲之父》；书内113、146—149、206—210、229、231—239、271—272页；PDF页码＝书内页码＋9；地图PDF 5。</a:t>
            </a:r>
          </a:p>
          <a:p>
            <a:r>
              <a:t>[法] 马克·布洛赫著。课程提供上下卷合并扫描件。《封建社会》上卷；上卷266—269页；对应PDF 288—291页。</a:t>
            </a:r>
          </a:p>
          <a:p>
            <a:r>
              <a:t>Janet L. Nelson 著。课程提供英文PDF。King and Emperor: A New Life of Charlemagne；PDF 175、204、251、405—408、480—481、497—498、515页。</a:t>
            </a:r>
          </a:p>
          <a:p>
            <a:r>
              <a:t>[比] 亨利·皮朗著。用于讨论政治分裂后的文化延续，以及经济答辩的史学争议背景。《穆罕默德和查理曼》；书内290页（PDF 322）；译者前言4页（PDF 10）。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450A83F-1AF1-40E4-B29B-59B4E1D00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E42B13FD-A08A-45AF-A434-CB412D1259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F3E65358-5783-43C6-8CC3-989D7E15D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FCE195A-1CE8-4C5C-A0CC-ADC28F281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586323D4-CAD1-46C1-8CDD-C00FD29C57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D8310267-1193-40C8-A0DD-B4F06FD0D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7317688-BFBD-4A31-90A7-FB4433D1E4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A1E3049A-EE59-4481-A7BE-55B73839D31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B84BC37-E002-4A03-B5FC-3D88AB25E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0BC996FD-4137-4C1C-925D-834BF86FA6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-1">
            <a:extLst>
              <a:ext uri="{FF2B5EF4-FFF2-40B4-BE49-F238E27FC236}">
                <a16:creationId xmlns:a16="http://schemas.microsoft.com/office/drawing/2014/main" id="{BB760EFE-15D8-45D0-BA07-2C84CE9A3E5F}"/>
              </a:ext>
            </a:extLst>
          </p:cNvPr>
          <p:cNvSpPr>
            <a:spLocks noGrp="1"/>
          </p:cNvSpPr>
          <p:nvPr/>
        </p:nvSpPr>
        <p:spPr>
          <a:xfrm>
            <a:off x="609600" y="257175"/>
            <a:ext cx="98107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中世纪欧洲文明</a:t>
            </a:r>
          </a:p>
        </p:txBody>
      </p:sp>
      <p:sp>
        <p:nvSpPr>
          <p:cNvPr id="2" name="text-2">
            <a:extLst>
              <a:ext uri="{FF2B5EF4-FFF2-40B4-BE49-F238E27FC236}">
                <a16:creationId xmlns:a16="http://schemas.microsoft.com/office/drawing/2014/main" id="{7181F21F-4E27-4A99-9EC7-DC57E3697316}"/>
              </a:ext>
            </a:extLst>
          </p:cNvPr>
          <p:cNvSpPr>
            <a:spLocks noGrp="1"/>
          </p:cNvSpPr>
          <p:nvPr/>
        </p:nvSpPr>
        <p:spPr>
          <a:xfrm>
            <a:off x="10972800" y="247650"/>
            <a:ext cx="6096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" name="rule-3">
            <a:extLst>
              <a:ext uri="{FF2B5EF4-FFF2-40B4-BE49-F238E27FC236}">
                <a16:creationId xmlns:a16="http://schemas.microsoft.com/office/drawing/2014/main" id="{5B1FFC97-891E-4B51-8810-68FBAE0FB2B1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972800" cy="0"/>
          </a:xfrm>
          <a:prstGeom prst="line">
            <a:avLst/>
          </a:prstGeom>
          <a:noFill/>
          <a:ln w="9525">
            <a:solidFill>
              <a:srgbClr val="C9C4B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" name="text-4">
            <a:extLst>
              <a:ext uri="{FF2B5EF4-FFF2-40B4-BE49-F238E27FC236}">
                <a16:creationId xmlns:a16="http://schemas.microsoft.com/office/drawing/2014/main" id="{07944D83-62FE-43EB-AFBD-828C0BDA5268}"/>
              </a:ext>
            </a:extLst>
          </p:cNvPr>
          <p:cNvSpPr>
            <a:spLocks noGrp="1"/>
          </p:cNvSpPr>
          <p:nvPr/>
        </p:nvSpPr>
        <p:spPr>
          <a:xfrm>
            <a:off x="609600" y="6181725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endParaRPr sz="1223" b="0">
              <a:solidFill>
                <a:srgbClr val="59646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text-5">
            <a:extLst>
              <a:ext uri="{FF2B5EF4-FFF2-40B4-BE49-F238E27FC236}">
                <a16:creationId xmlns:a16="http://schemas.microsoft.com/office/drawing/2014/main" id="{2BEC7DDD-029F-4D08-B1EA-9812796F7E00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10287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8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政治治理视角</a:t>
            </a:r>
          </a:p>
        </p:txBody>
      </p:sp>
      <p:sp>
        <p:nvSpPr>
          <p:cNvPr id="6" name="cover-title">
            <a:extLst>
              <a:ext uri="{FF2B5EF4-FFF2-40B4-BE49-F238E27FC236}">
                <a16:creationId xmlns:a16="http://schemas.microsoft.com/office/drawing/2014/main" id="{7181177C-2EDC-4DD4-BF95-F631C261C072}"/>
              </a:ext>
            </a:extLst>
          </p:cNvPr>
          <p:cNvSpPr>
            <a:spLocks noGrp="1"/>
          </p:cNvSpPr>
          <p:nvPr/>
        </p:nvSpPr>
        <p:spPr>
          <a:xfrm>
            <a:off x="609600" y="1628775"/>
            <a:ext cx="10972800" cy="1619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48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48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48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48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48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48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48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48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48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48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48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查理曼：罗马皇帝，</a:t>
            </a:r>
          </a:p>
          <a:p>
            <a:pPr algn="l">
              <a:lnSpc>
                <a:spcPct val="112000"/>
              </a:lnSpc>
              <a:buNone/>
              <a:defRPr sz="48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还是新型欧洲君主？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7C9A13C6-D58D-4D8F-B69B-B1BCAC612D4F}"/>
              </a:ext>
            </a:extLst>
          </p:cNvPr>
          <p:cNvSpPr>
            <a:spLocks noGrp="1"/>
          </p:cNvSpPr>
          <p:nvPr/>
        </p:nvSpPr>
        <p:spPr>
          <a:xfrm>
            <a:off x="609600" y="3514725"/>
            <a:ext cx="10572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3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3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3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3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3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3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3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3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3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3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从查理曼如何治理帝国谈起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523FCE9C-FFFB-4ACA-BFD4-A8AB9F80884B}"/>
              </a:ext>
            </a:extLst>
          </p:cNvPr>
          <p:cNvSpPr>
            <a:spLocks noGrp="1"/>
          </p:cNvSpPr>
          <p:nvPr/>
        </p:nvSpPr>
        <p:spPr>
          <a:xfrm>
            <a:off x="609600" y="4486275"/>
            <a:ext cx="10858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8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第八小组</a:t>
            </a:r>
          </a:p>
        </p:txBody>
      </p:sp>
      <p:sp>
        <p:nvSpPr>
          <p:cNvPr id="9" name="text-8">
            <a:extLst>
              <a:ext uri="{FF2B5EF4-FFF2-40B4-BE49-F238E27FC236}">
                <a16:creationId xmlns:a16="http://schemas.microsoft.com/office/drawing/2014/main" id="{C1945F98-D4AD-4B6A-9C40-61A2B2A14E87}"/>
              </a:ext>
            </a:extLst>
          </p:cNvPr>
          <p:cNvSpPr>
            <a:spLocks noGrp="1"/>
          </p:cNvSpPr>
          <p:nvPr/>
        </p:nvSpPr>
        <p:spPr>
          <a:xfrm>
            <a:off x="609600" y="501015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650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650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650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650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650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650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650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650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650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2000"/>
              </a:lnSpc>
              <a:buNone/>
              <a:defRPr sz="1650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成员：熊礼学-上台展示、张</a:t>
            </a:r>
            <a:r>
              <a:t>祺昀-ppt、张元赫、张芯源、朱硕、张智语-讨论稿</a:t>
            </a:r>
            <a:r>
              <a:rPr sz="1650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8556948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-25">
            <a:extLst>
              <a:ext uri="{FF2B5EF4-FFF2-40B4-BE49-F238E27FC236}">
                <a16:creationId xmlns:a16="http://schemas.microsoft.com/office/drawing/2014/main" id="{26FC0AF5-768B-490D-A6F8-D6A05BA4C254}"/>
              </a:ext>
            </a:extLst>
          </p:cNvPr>
          <p:cNvSpPr>
            <a:spLocks noGrp="1"/>
          </p:cNvSpPr>
          <p:nvPr/>
        </p:nvSpPr>
        <p:spPr>
          <a:xfrm>
            <a:off x="609600" y="257175"/>
            <a:ext cx="98107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中世纪欧洲文明   /   罗马传统</a:t>
            </a:r>
          </a:p>
        </p:txBody>
      </p:sp>
      <p:sp>
        <p:nvSpPr>
          <p:cNvPr id="2" name="text-26">
            <a:extLst>
              <a:ext uri="{FF2B5EF4-FFF2-40B4-BE49-F238E27FC236}">
                <a16:creationId xmlns:a16="http://schemas.microsoft.com/office/drawing/2014/main" id="{74331B46-7C4D-41E8-9268-432848968941}"/>
              </a:ext>
            </a:extLst>
          </p:cNvPr>
          <p:cNvSpPr>
            <a:spLocks noGrp="1"/>
          </p:cNvSpPr>
          <p:nvPr/>
        </p:nvSpPr>
        <p:spPr>
          <a:xfrm>
            <a:off x="10972800" y="247650"/>
            <a:ext cx="6096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heading-3">
            <a:extLst>
              <a:ext uri="{FF2B5EF4-FFF2-40B4-BE49-F238E27FC236}">
                <a16:creationId xmlns:a16="http://schemas.microsoft.com/office/drawing/2014/main" id="{84E51730-AB01-4595-B10E-F2DABF507108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查理曼继承了哪些罗马传统</a:t>
            </a:r>
          </a:p>
        </p:txBody>
      </p:sp>
      <p:sp>
        <p:nvSpPr>
          <p:cNvPr id="4" name="rule-27">
            <a:extLst>
              <a:ext uri="{FF2B5EF4-FFF2-40B4-BE49-F238E27FC236}">
                <a16:creationId xmlns:a16="http://schemas.microsoft.com/office/drawing/2014/main" id="{75EF95D2-5115-4FB6-AEA5-E7FABDA547AF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972800" cy="0"/>
          </a:xfrm>
          <a:prstGeom prst="line">
            <a:avLst/>
          </a:prstGeom>
          <a:noFill/>
          <a:ln w="9525">
            <a:solidFill>
              <a:srgbClr val="C9C4B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text-28">
            <a:extLst>
              <a:ext uri="{FF2B5EF4-FFF2-40B4-BE49-F238E27FC236}">
                <a16:creationId xmlns:a16="http://schemas.microsoft.com/office/drawing/2014/main" id="{60733C37-E5C2-4A5F-B3B3-E3DE3FD46DFF}"/>
              </a:ext>
            </a:extLst>
          </p:cNvPr>
          <p:cNvSpPr>
            <a:spLocks noGrp="1"/>
          </p:cNvSpPr>
          <p:nvPr/>
        </p:nvSpPr>
        <p:spPr>
          <a:xfrm>
            <a:off x="609600" y="6181725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endParaRPr sz="1223" b="0">
              <a:solidFill>
                <a:srgbClr val="59646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text-29">
            <a:extLst>
              <a:ext uri="{FF2B5EF4-FFF2-40B4-BE49-F238E27FC236}">
                <a16:creationId xmlns:a16="http://schemas.microsoft.com/office/drawing/2014/main" id="{71BEE63C-1085-4F5F-9C61-6D0F5C30E1BB}"/>
              </a:ext>
            </a:extLst>
          </p:cNvPr>
          <p:cNvSpPr>
            <a:spLocks noGrp="1"/>
          </p:cNvSpPr>
          <p:nvPr/>
        </p:nvSpPr>
        <p:spPr>
          <a:xfrm>
            <a:off x="609600" y="1752600"/>
            <a:ext cx="2857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2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罗马帝国的名号</a:t>
            </a:r>
          </a:p>
        </p:txBody>
      </p:sp>
      <p:sp>
        <p:nvSpPr>
          <p:cNvPr id="7" name="text-30">
            <a:extLst>
              <a:ext uri="{FF2B5EF4-FFF2-40B4-BE49-F238E27FC236}">
                <a16:creationId xmlns:a16="http://schemas.microsoft.com/office/drawing/2014/main" id="{EC7205DD-4187-4A63-B9FB-1C44D2405942}"/>
              </a:ext>
            </a:extLst>
          </p:cNvPr>
          <p:cNvSpPr>
            <a:spLocks noGrp="1"/>
          </p:cNvSpPr>
          <p:nvPr/>
        </p:nvSpPr>
        <p:spPr>
          <a:xfrm>
            <a:off x="3714750" y="1733550"/>
            <a:ext cx="78676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800年在罗马加冕，801年开始使用帝国头衔</a:t>
            </a:r>
          </a:p>
        </p:txBody>
      </p:sp>
      <p:sp>
        <p:nvSpPr>
          <p:cNvPr id="8" name="text-31">
            <a:extLst>
              <a:ext uri="{FF2B5EF4-FFF2-40B4-BE49-F238E27FC236}">
                <a16:creationId xmlns:a16="http://schemas.microsoft.com/office/drawing/2014/main" id="{E1ACD68C-7452-4C17-84AB-E94DE091C15D}"/>
              </a:ext>
            </a:extLst>
          </p:cNvPr>
          <p:cNvSpPr>
            <a:spLocks noGrp="1"/>
          </p:cNvSpPr>
          <p:nvPr/>
        </p:nvSpPr>
        <p:spPr>
          <a:xfrm>
            <a:off x="3714750" y="2152650"/>
            <a:ext cx="78676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950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文书称他为“治理罗马帝国的皇帝”</a:t>
            </a:r>
          </a:p>
        </p:txBody>
      </p:sp>
      <p:sp>
        <p:nvSpPr>
          <p:cNvPr id="9" name="text-32">
            <a:extLst>
              <a:ext uri="{FF2B5EF4-FFF2-40B4-BE49-F238E27FC236}">
                <a16:creationId xmlns:a16="http://schemas.microsoft.com/office/drawing/2014/main" id="{259559E0-0555-45A2-980C-D394C7AD4842}"/>
              </a:ext>
            </a:extLst>
          </p:cNvPr>
          <p:cNvSpPr>
            <a:spLocks noGrp="1"/>
          </p:cNvSpPr>
          <p:nvPr/>
        </p:nvSpPr>
        <p:spPr>
          <a:xfrm>
            <a:off x="609600" y="2895600"/>
            <a:ext cx="2857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2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皇权与教会事务</a:t>
            </a:r>
          </a:p>
        </p:txBody>
      </p:sp>
      <p:sp>
        <p:nvSpPr>
          <p:cNvPr id="10" name="text-33">
            <a:extLst>
              <a:ext uri="{FF2B5EF4-FFF2-40B4-BE49-F238E27FC236}">
                <a16:creationId xmlns:a16="http://schemas.microsoft.com/office/drawing/2014/main" id="{D54172CF-0A5A-4B50-8ACF-8D774BDFBFBA}"/>
              </a:ext>
            </a:extLst>
          </p:cNvPr>
          <p:cNvSpPr>
            <a:spLocks noGrp="1"/>
          </p:cNvSpPr>
          <p:nvPr/>
        </p:nvSpPr>
        <p:spPr>
          <a:xfrm>
            <a:off x="3714750" y="2876550"/>
            <a:ext cx="78676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794年召集法兰克福会议，参与裁断教义争议</a:t>
            </a:r>
          </a:p>
        </p:txBody>
      </p:sp>
      <p:sp>
        <p:nvSpPr>
          <p:cNvPr id="11" name="text-34">
            <a:extLst>
              <a:ext uri="{FF2B5EF4-FFF2-40B4-BE49-F238E27FC236}">
                <a16:creationId xmlns:a16="http://schemas.microsoft.com/office/drawing/2014/main" id="{620DC397-3370-429B-97D4-860037CC9B72}"/>
              </a:ext>
            </a:extLst>
          </p:cNvPr>
          <p:cNvSpPr>
            <a:spLocks noGrp="1"/>
          </p:cNvSpPr>
          <p:nvPr/>
        </p:nvSpPr>
        <p:spPr>
          <a:xfrm>
            <a:off x="3714750" y="3295650"/>
            <a:ext cx="78676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950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君主召集教会会议，在晚期罗马帝国已有先例</a:t>
            </a:r>
          </a:p>
        </p:txBody>
      </p:sp>
      <p:sp>
        <p:nvSpPr>
          <p:cNvPr id="12" name="text-35">
            <a:extLst>
              <a:ext uri="{FF2B5EF4-FFF2-40B4-BE49-F238E27FC236}">
                <a16:creationId xmlns:a16="http://schemas.microsoft.com/office/drawing/2014/main" id="{18B4A287-6640-4D9A-912A-E7E39C2A7BEE}"/>
              </a:ext>
            </a:extLst>
          </p:cNvPr>
          <p:cNvSpPr>
            <a:spLocks noGrp="1"/>
          </p:cNvSpPr>
          <p:nvPr/>
        </p:nvSpPr>
        <p:spPr>
          <a:xfrm>
            <a:off x="609600" y="4038600"/>
            <a:ext cx="2857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2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具体案件中的罗马法</a:t>
            </a:r>
          </a:p>
        </p:txBody>
      </p:sp>
      <p:sp>
        <p:nvSpPr>
          <p:cNvPr id="13" name="text-36">
            <a:extLst>
              <a:ext uri="{FF2B5EF4-FFF2-40B4-BE49-F238E27FC236}">
                <a16:creationId xmlns:a16="http://schemas.microsoft.com/office/drawing/2014/main" id="{044D667E-B856-4A04-9481-93458289091A}"/>
              </a:ext>
            </a:extLst>
          </p:cNvPr>
          <p:cNvSpPr>
            <a:spLocks noGrp="1"/>
          </p:cNvSpPr>
          <p:nvPr/>
        </p:nvSpPr>
        <p:spPr>
          <a:xfrm>
            <a:off x="3714750" y="4019550"/>
            <a:ext cx="78676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加冕后，按罗马法审判袭击教皇的人</a:t>
            </a:r>
          </a:p>
        </p:txBody>
      </p:sp>
      <p:sp>
        <p:nvSpPr>
          <p:cNvPr id="14" name="text-37">
            <a:extLst>
              <a:ext uri="{FF2B5EF4-FFF2-40B4-BE49-F238E27FC236}">
                <a16:creationId xmlns:a16="http://schemas.microsoft.com/office/drawing/2014/main" id="{0A4CA15D-5F2E-49CA-BB23-BCC9FB03ADB6}"/>
              </a:ext>
            </a:extLst>
          </p:cNvPr>
          <p:cNvSpPr>
            <a:spLocks noGrp="1"/>
          </p:cNvSpPr>
          <p:nvPr/>
        </p:nvSpPr>
        <p:spPr>
          <a:xfrm>
            <a:off x="3714750" y="4438650"/>
            <a:ext cx="78676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950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罗马法用于具体案件，各地法律仍然并存</a:t>
            </a:r>
          </a:p>
        </p:txBody>
      </p:sp>
      <p:sp>
        <p:nvSpPr>
          <p:cNvPr id="15" name="text-38">
            <a:extLst>
              <a:ext uri="{FF2B5EF4-FFF2-40B4-BE49-F238E27FC236}">
                <a16:creationId xmlns:a16="http://schemas.microsoft.com/office/drawing/2014/main" id="{629AF88A-F929-4613-BF59-D03E15D85475}"/>
              </a:ext>
            </a:extLst>
          </p:cNvPr>
          <p:cNvSpPr>
            <a:spLocks noGrp="1"/>
          </p:cNvSpPr>
          <p:nvPr/>
        </p:nvSpPr>
        <p:spPr>
          <a:xfrm>
            <a:off x="609600" y="5295900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2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2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2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2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2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2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2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2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2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罗马传统既涉及皇帝身份，也体现在教会事务和司法实践中。</a:t>
            </a:r>
          </a:p>
        </p:txBody>
      </p:sp>
    </p:spTree>
    <p:extLst>
      <p:ext uri="{BB962C8B-B14F-4D97-AF65-F5344CB8AC3E}">
        <p14:creationId xmlns:p14="http://schemas.microsoft.com/office/powerpoint/2010/main" val="391750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-9">
            <a:extLst>
              <a:ext uri="{FF2B5EF4-FFF2-40B4-BE49-F238E27FC236}">
                <a16:creationId xmlns:a16="http://schemas.microsoft.com/office/drawing/2014/main" id="{344F5FA2-9389-4C71-A793-9D2FBD71F1C3}"/>
              </a:ext>
            </a:extLst>
          </p:cNvPr>
          <p:cNvSpPr>
            <a:spLocks noGrp="1"/>
          </p:cNvSpPr>
          <p:nvPr/>
        </p:nvSpPr>
        <p:spPr>
          <a:xfrm>
            <a:off x="609600" y="257175"/>
            <a:ext cx="98107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中世纪欧洲文明   /   讨论思路</a:t>
            </a:r>
          </a:p>
        </p:txBody>
      </p:sp>
      <p:sp>
        <p:nvSpPr>
          <p:cNvPr id="2" name="text-10">
            <a:extLst>
              <a:ext uri="{FF2B5EF4-FFF2-40B4-BE49-F238E27FC236}">
                <a16:creationId xmlns:a16="http://schemas.microsoft.com/office/drawing/2014/main" id="{DCD033D3-0C37-4433-A040-861D822EB16D}"/>
              </a:ext>
            </a:extLst>
          </p:cNvPr>
          <p:cNvSpPr>
            <a:spLocks noGrp="1"/>
          </p:cNvSpPr>
          <p:nvPr/>
        </p:nvSpPr>
        <p:spPr>
          <a:xfrm>
            <a:off x="10972800" y="247650"/>
            <a:ext cx="6096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  <a:p>
            <a:pPr algn="r">
              <a:lnSpc>
                <a:spcPct val="112000"/>
              </a:lnSpc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endParaRPr sz="1350" b="0">
              <a:solidFill>
                <a:srgbClr val="9A44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heading-2">
            <a:extLst>
              <a:ext uri="{FF2B5EF4-FFF2-40B4-BE49-F238E27FC236}">
                <a16:creationId xmlns:a16="http://schemas.microsoft.com/office/drawing/2014/main" id="{306A716C-6C08-4765-9C31-B10258BCBE93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从实际统治看查理曼的君主身份</a:t>
            </a:r>
          </a:p>
        </p:txBody>
      </p:sp>
      <p:sp>
        <p:nvSpPr>
          <p:cNvPr id="4" name="rule-11">
            <a:extLst>
              <a:ext uri="{FF2B5EF4-FFF2-40B4-BE49-F238E27FC236}">
                <a16:creationId xmlns:a16="http://schemas.microsoft.com/office/drawing/2014/main" id="{819B7FA3-3FDD-447C-8C6E-05CE8EEE0844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972800" cy="0"/>
          </a:xfrm>
          <a:prstGeom prst="line">
            <a:avLst/>
          </a:prstGeom>
          <a:noFill/>
          <a:ln w="9525">
            <a:solidFill>
              <a:srgbClr val="C9C4B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text-12">
            <a:extLst>
              <a:ext uri="{FF2B5EF4-FFF2-40B4-BE49-F238E27FC236}">
                <a16:creationId xmlns:a16="http://schemas.microsoft.com/office/drawing/2014/main" id="{8E188CF6-77A3-4A9E-B788-861C0991F3EF}"/>
              </a:ext>
            </a:extLst>
          </p:cNvPr>
          <p:cNvSpPr>
            <a:spLocks noGrp="1"/>
          </p:cNvSpPr>
          <p:nvPr/>
        </p:nvSpPr>
        <p:spPr>
          <a:xfrm>
            <a:off x="609600" y="6181725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endParaRPr sz="1223" b="0">
              <a:solidFill>
                <a:srgbClr val="59646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text-13">
            <a:extLst>
              <a:ext uri="{FF2B5EF4-FFF2-40B4-BE49-F238E27FC236}">
                <a16:creationId xmlns:a16="http://schemas.microsoft.com/office/drawing/2014/main" id="{25A8412F-1FBC-46C7-AE79-4650C6B66335}"/>
              </a:ext>
            </a:extLst>
          </p:cNvPr>
          <p:cNvSpPr>
            <a:spLocks noGrp="1"/>
          </p:cNvSpPr>
          <p:nvPr/>
        </p:nvSpPr>
        <p:spPr>
          <a:xfrm>
            <a:off x="609600" y="1971675"/>
            <a:ext cx="8001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17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司法</a:t>
            </a:r>
          </a:p>
        </p:txBody>
      </p:sp>
      <p:sp>
        <p:nvSpPr>
          <p:cNvPr id="7" name="text-14">
            <a:extLst>
              <a:ext uri="{FF2B5EF4-FFF2-40B4-BE49-F238E27FC236}">
                <a16:creationId xmlns:a16="http://schemas.microsoft.com/office/drawing/2014/main" id="{3056AA24-0896-4AC8-801B-4DD21D55C13A}"/>
              </a:ext>
            </a:extLst>
          </p:cNvPr>
          <p:cNvSpPr>
            <a:spLocks noGrp="1"/>
          </p:cNvSpPr>
          <p:nvPr/>
        </p:nvSpPr>
        <p:spPr>
          <a:xfrm>
            <a:off x="1619250" y="1952625"/>
            <a:ext cx="400050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伯爵主持地方司法</a:t>
            </a:r>
          </a:p>
        </p:txBody>
      </p:sp>
      <p:sp>
        <p:nvSpPr>
          <p:cNvPr id="8" name="text-15">
            <a:extLst>
              <a:ext uri="{FF2B5EF4-FFF2-40B4-BE49-F238E27FC236}">
                <a16:creationId xmlns:a16="http://schemas.microsoft.com/office/drawing/2014/main" id="{D3D72996-24F3-41BB-9435-D4C4CDBD0975}"/>
              </a:ext>
            </a:extLst>
          </p:cNvPr>
          <p:cNvSpPr>
            <a:spLocks noGrp="1"/>
          </p:cNvSpPr>
          <p:nvPr/>
        </p:nvSpPr>
        <p:spPr>
          <a:xfrm>
            <a:off x="6048375" y="1990725"/>
            <a:ext cx="5381625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伯爵可能徇私，君主难以直接监督</a:t>
            </a:r>
          </a:p>
        </p:txBody>
      </p:sp>
      <p:sp>
        <p:nvSpPr>
          <p:cNvPr id="9" name="rule-16">
            <a:extLst>
              <a:ext uri="{FF2B5EF4-FFF2-40B4-BE49-F238E27FC236}">
                <a16:creationId xmlns:a16="http://schemas.microsoft.com/office/drawing/2014/main" id="{F8CB3913-24C1-4054-9BFA-FD50A023E146}"/>
              </a:ext>
            </a:extLst>
          </p:cNvPr>
          <p:cNvSpPr>
            <a:spLocks noGrp="1"/>
          </p:cNvSpPr>
          <p:nvPr/>
        </p:nvSpPr>
        <p:spPr>
          <a:xfrm>
            <a:off x="1619250" y="2752725"/>
            <a:ext cx="9963150" cy="0"/>
          </a:xfrm>
          <a:prstGeom prst="line">
            <a:avLst/>
          </a:prstGeom>
          <a:noFill/>
          <a:ln w="9525">
            <a:solidFill>
              <a:srgbClr val="C9C4B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text-17">
            <a:extLst>
              <a:ext uri="{FF2B5EF4-FFF2-40B4-BE49-F238E27FC236}">
                <a16:creationId xmlns:a16="http://schemas.microsoft.com/office/drawing/2014/main" id="{59D83AF1-8554-4636-B519-318B7CACE6D6}"/>
              </a:ext>
            </a:extLst>
          </p:cNvPr>
          <p:cNvSpPr>
            <a:spLocks noGrp="1"/>
          </p:cNvSpPr>
          <p:nvPr/>
        </p:nvSpPr>
        <p:spPr>
          <a:xfrm>
            <a:off x="609600" y="3048000"/>
            <a:ext cx="8001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17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出庭</a:t>
            </a:r>
          </a:p>
        </p:txBody>
      </p:sp>
      <p:sp>
        <p:nvSpPr>
          <p:cNvPr id="11" name="text-18">
            <a:extLst>
              <a:ext uri="{FF2B5EF4-FFF2-40B4-BE49-F238E27FC236}">
                <a16:creationId xmlns:a16="http://schemas.microsoft.com/office/drawing/2014/main" id="{B2C7A664-971E-4D97-AA68-BF73F7F093CA}"/>
              </a:ext>
            </a:extLst>
          </p:cNvPr>
          <p:cNvSpPr>
            <a:spLocks noGrp="1"/>
          </p:cNvSpPr>
          <p:nvPr/>
        </p:nvSpPr>
        <p:spPr>
          <a:xfrm>
            <a:off x="1619250" y="3028950"/>
            <a:ext cx="400050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自由民参加公共法庭</a:t>
            </a:r>
          </a:p>
        </p:txBody>
      </p:sp>
      <p:sp>
        <p:nvSpPr>
          <p:cNvPr id="12" name="text-19">
            <a:extLst>
              <a:ext uri="{FF2B5EF4-FFF2-40B4-BE49-F238E27FC236}">
                <a16:creationId xmlns:a16="http://schemas.microsoft.com/office/drawing/2014/main" id="{F83F112E-B5DA-4B58-8DFE-1847AA51F964}"/>
              </a:ext>
            </a:extLst>
          </p:cNvPr>
          <p:cNvSpPr>
            <a:spLocks noGrp="1"/>
          </p:cNvSpPr>
          <p:nvPr/>
        </p:nvSpPr>
        <p:spPr>
          <a:xfrm>
            <a:off x="6048375" y="3067050"/>
            <a:ext cx="5381625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出庭过于频繁，加重普通人的负担</a:t>
            </a:r>
          </a:p>
        </p:txBody>
      </p:sp>
      <p:sp>
        <p:nvSpPr>
          <p:cNvPr id="13" name="rule-20">
            <a:extLst>
              <a:ext uri="{FF2B5EF4-FFF2-40B4-BE49-F238E27FC236}">
                <a16:creationId xmlns:a16="http://schemas.microsoft.com/office/drawing/2014/main" id="{67DBCA72-EEA5-4F40-97E4-623612F557EC}"/>
              </a:ext>
            </a:extLst>
          </p:cNvPr>
          <p:cNvSpPr>
            <a:spLocks noGrp="1"/>
          </p:cNvSpPr>
          <p:nvPr/>
        </p:nvSpPr>
        <p:spPr>
          <a:xfrm>
            <a:off x="1619250" y="3829050"/>
            <a:ext cx="9963150" cy="0"/>
          </a:xfrm>
          <a:prstGeom prst="line">
            <a:avLst/>
          </a:prstGeom>
          <a:noFill/>
          <a:ln w="9525">
            <a:solidFill>
              <a:srgbClr val="C9C4B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text-21">
            <a:extLst>
              <a:ext uri="{FF2B5EF4-FFF2-40B4-BE49-F238E27FC236}">
                <a16:creationId xmlns:a16="http://schemas.microsoft.com/office/drawing/2014/main" id="{0EE61341-3241-488E-9E52-6876E91D1FEF}"/>
              </a:ext>
            </a:extLst>
          </p:cNvPr>
          <p:cNvSpPr>
            <a:spLocks noGrp="1"/>
          </p:cNvSpPr>
          <p:nvPr/>
        </p:nvSpPr>
        <p:spPr>
          <a:xfrm>
            <a:off x="609600" y="4124325"/>
            <a:ext cx="8001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17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动员</a:t>
            </a:r>
          </a:p>
        </p:txBody>
      </p:sp>
      <p:sp>
        <p:nvSpPr>
          <p:cNvPr id="15" name="text-22">
            <a:extLst>
              <a:ext uri="{FF2B5EF4-FFF2-40B4-BE49-F238E27FC236}">
                <a16:creationId xmlns:a16="http://schemas.microsoft.com/office/drawing/2014/main" id="{5EE2D149-8B08-49B4-B59F-8EB68EAFB1BE}"/>
              </a:ext>
            </a:extLst>
          </p:cNvPr>
          <p:cNvSpPr>
            <a:spLocks noGrp="1"/>
          </p:cNvSpPr>
          <p:nvPr/>
        </p:nvSpPr>
        <p:spPr>
          <a:xfrm>
            <a:off x="1619250" y="4105275"/>
            <a:ext cx="400050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领主与属从的关系</a:t>
            </a:r>
          </a:p>
        </p:txBody>
      </p:sp>
      <p:sp>
        <p:nvSpPr>
          <p:cNvPr id="16" name="text-23">
            <a:extLst>
              <a:ext uri="{FF2B5EF4-FFF2-40B4-BE49-F238E27FC236}">
                <a16:creationId xmlns:a16="http://schemas.microsoft.com/office/drawing/2014/main" id="{84F56C85-8057-4605-BC6A-617509D3450B}"/>
              </a:ext>
            </a:extLst>
          </p:cNvPr>
          <p:cNvSpPr>
            <a:spLocks noGrp="1"/>
          </p:cNvSpPr>
          <p:nvPr/>
        </p:nvSpPr>
        <p:spPr>
          <a:xfrm>
            <a:off x="6048375" y="4143375"/>
            <a:ext cx="5381625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官员有限，传令和征兵需借助领主</a:t>
            </a:r>
          </a:p>
        </p:txBody>
      </p:sp>
      <p:sp>
        <p:nvSpPr>
          <p:cNvPr id="17" name="text-24">
            <a:extLst>
              <a:ext uri="{FF2B5EF4-FFF2-40B4-BE49-F238E27FC236}">
                <a16:creationId xmlns:a16="http://schemas.microsoft.com/office/drawing/2014/main" id="{78081717-A59F-43E8-B499-A05E8929284B}"/>
              </a:ext>
            </a:extLst>
          </p:cNvPr>
          <p:cNvSpPr>
            <a:spLocks noGrp="1"/>
          </p:cNvSpPr>
          <p:nvPr/>
        </p:nvSpPr>
        <p:spPr>
          <a:xfrm>
            <a:off x="609600" y="5238750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他加强对伯爵的监督，减轻出庭负担，并借领主召集人员。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1E444A4-4B9E-454A-A583-53DCB3D28134}"/>
              </a:ext>
            </a:extLst>
          </p:cNvPr>
          <p:cNvSpPr>
            <a:spLocks noGrp="1"/>
          </p:cNvSpPr>
          <p:nvPr/>
        </p:nvSpPr>
        <p:spPr>
          <a:xfrm>
            <a:off x="1619250" y="1533525"/>
            <a:ext cx="40005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650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650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650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650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650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650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650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650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650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650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2000"/>
              </a:lnSpc>
              <a:buNone/>
              <a:defRPr sz="1650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原有的安排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50A09B9-48F8-49A7-9655-EABB6A68FC15}"/>
              </a:ext>
            </a:extLst>
          </p:cNvPr>
          <p:cNvSpPr>
            <a:spLocks noGrp="1"/>
          </p:cNvSpPr>
          <p:nvPr/>
        </p:nvSpPr>
        <p:spPr>
          <a:xfrm>
            <a:off x="6048375" y="1533525"/>
            <a:ext cx="538162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650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650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650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650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650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650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650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650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650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650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2000"/>
              </a:lnSpc>
              <a:buNone/>
              <a:defRPr sz="1650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面临的困难</a:t>
            </a:r>
          </a:p>
        </p:txBody>
      </p:sp>
    </p:spTree>
    <p:extLst>
      <p:ext uri="{BB962C8B-B14F-4D97-AF65-F5344CB8AC3E}">
        <p14:creationId xmlns:p14="http://schemas.microsoft.com/office/powerpoint/2010/main" val="13373920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-39">
            <a:extLst>
              <a:ext uri="{FF2B5EF4-FFF2-40B4-BE49-F238E27FC236}">
                <a16:creationId xmlns:a16="http://schemas.microsoft.com/office/drawing/2014/main" id="{D8178D84-AD8C-472F-AA9E-20C165147FB7}"/>
              </a:ext>
            </a:extLst>
          </p:cNvPr>
          <p:cNvSpPr>
            <a:spLocks noGrp="1"/>
          </p:cNvSpPr>
          <p:nvPr/>
        </p:nvSpPr>
        <p:spPr>
          <a:xfrm>
            <a:off x="609600" y="257175"/>
            <a:ext cx="98107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中世纪欧洲文明   /   军事征服</a:t>
            </a:r>
          </a:p>
        </p:txBody>
      </p:sp>
      <p:sp>
        <p:nvSpPr>
          <p:cNvPr id="2" name="text-40">
            <a:extLst>
              <a:ext uri="{FF2B5EF4-FFF2-40B4-BE49-F238E27FC236}">
                <a16:creationId xmlns:a16="http://schemas.microsoft.com/office/drawing/2014/main" id="{B42D26DB-C3D4-47DD-AD55-93E76E3D5B2D}"/>
              </a:ext>
            </a:extLst>
          </p:cNvPr>
          <p:cNvSpPr>
            <a:spLocks noGrp="1"/>
          </p:cNvSpPr>
          <p:nvPr/>
        </p:nvSpPr>
        <p:spPr>
          <a:xfrm>
            <a:off x="10972800" y="247650"/>
            <a:ext cx="6096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heading-4">
            <a:extLst>
              <a:ext uri="{FF2B5EF4-FFF2-40B4-BE49-F238E27FC236}">
                <a16:creationId xmlns:a16="http://schemas.microsoft.com/office/drawing/2014/main" id="{5B328459-2772-4E28-B9AB-8274136F4AAC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领土扩大，地方治理也更加困难</a:t>
            </a:r>
          </a:p>
        </p:txBody>
      </p:sp>
      <p:sp>
        <p:nvSpPr>
          <p:cNvPr id="4" name="rule-41">
            <a:extLst>
              <a:ext uri="{FF2B5EF4-FFF2-40B4-BE49-F238E27FC236}">
                <a16:creationId xmlns:a16="http://schemas.microsoft.com/office/drawing/2014/main" id="{DECA5486-225F-40FB-9ECC-956FBF0153F3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972800" cy="0"/>
          </a:xfrm>
          <a:prstGeom prst="line">
            <a:avLst/>
          </a:prstGeom>
          <a:noFill/>
          <a:ln w="9525">
            <a:solidFill>
              <a:srgbClr val="C9C4B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text-42">
            <a:extLst>
              <a:ext uri="{FF2B5EF4-FFF2-40B4-BE49-F238E27FC236}">
                <a16:creationId xmlns:a16="http://schemas.microsoft.com/office/drawing/2014/main" id="{3F0F0D43-29FA-4590-8C4A-ED6E58F2663E}"/>
              </a:ext>
            </a:extLst>
          </p:cNvPr>
          <p:cNvSpPr>
            <a:spLocks noGrp="1"/>
          </p:cNvSpPr>
          <p:nvPr/>
        </p:nvSpPr>
        <p:spPr>
          <a:xfrm>
            <a:off x="609600" y="6181725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endParaRPr sz="1223" b="0">
              <a:solidFill>
                <a:srgbClr val="59646B"/>
              </a:solidFill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FA41DC6-3898-4324-9613-D0D9BAA6D4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56894" y="1533525"/>
            <a:ext cx="3467862" cy="4295775"/>
          </a:xfrm>
          <a:prstGeom prst="rect">
            <a:avLst/>
          </a:prstGeom>
        </p:spPr>
      </p:pic>
      <p:sp>
        <p:nvSpPr>
          <p:cNvPr id="7" name="text-43">
            <a:extLst>
              <a:ext uri="{FF2B5EF4-FFF2-40B4-BE49-F238E27FC236}">
                <a16:creationId xmlns:a16="http://schemas.microsoft.com/office/drawing/2014/main" id="{2133BC5D-D8D2-48DA-8C9C-3F825BDC9972}"/>
              </a:ext>
            </a:extLst>
          </p:cNvPr>
          <p:cNvSpPr>
            <a:spLocks noGrp="1"/>
          </p:cNvSpPr>
          <p:nvPr/>
        </p:nvSpPr>
        <p:spPr>
          <a:xfrm>
            <a:off x="5448300" y="1752600"/>
            <a:ext cx="609600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伦巴第：征服与法律延续</a:t>
            </a:r>
          </a:p>
        </p:txBody>
      </p:sp>
      <p:sp>
        <p:nvSpPr>
          <p:cNvPr id="8" name="text-44">
            <a:extLst>
              <a:ext uri="{FF2B5EF4-FFF2-40B4-BE49-F238E27FC236}">
                <a16:creationId xmlns:a16="http://schemas.microsoft.com/office/drawing/2014/main" id="{EF0BEDF3-CD46-4D36-A986-3F8C99519FC0}"/>
              </a:ext>
            </a:extLst>
          </p:cNvPr>
          <p:cNvSpPr>
            <a:spLocks noGrp="1"/>
          </p:cNvSpPr>
          <p:nvPr/>
        </p:nvSpPr>
        <p:spPr>
          <a:xfrm>
            <a:off x="5448300" y="2343150"/>
            <a:ext cx="60388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774年征服伦巴第王国后，当地仍保留自己的法律和一些政治传统。</a:t>
            </a:r>
          </a:p>
        </p:txBody>
      </p:sp>
      <p:sp>
        <p:nvSpPr>
          <p:cNvPr id="9" name="text-45">
            <a:extLst>
              <a:ext uri="{FF2B5EF4-FFF2-40B4-BE49-F238E27FC236}">
                <a16:creationId xmlns:a16="http://schemas.microsoft.com/office/drawing/2014/main" id="{10B5BC53-2129-46E1-88A5-C79D1A7B521E}"/>
              </a:ext>
            </a:extLst>
          </p:cNvPr>
          <p:cNvSpPr>
            <a:spLocks noGrp="1"/>
          </p:cNvSpPr>
          <p:nvPr/>
        </p:nvSpPr>
        <p:spPr>
          <a:xfrm>
            <a:off x="5448300" y="3371850"/>
            <a:ext cx="609600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萨克森：战争与强制改宗</a:t>
            </a:r>
          </a:p>
        </p:txBody>
      </p:sp>
      <p:sp>
        <p:nvSpPr>
          <p:cNvPr id="10" name="text-46">
            <a:extLst>
              <a:ext uri="{FF2B5EF4-FFF2-40B4-BE49-F238E27FC236}">
                <a16:creationId xmlns:a16="http://schemas.microsoft.com/office/drawing/2014/main" id="{C4516E80-8A58-44B6-8FA5-90676C3D2D0E}"/>
              </a:ext>
            </a:extLst>
          </p:cNvPr>
          <p:cNvSpPr>
            <a:spLocks noGrp="1"/>
          </p:cNvSpPr>
          <p:nvPr/>
        </p:nvSpPr>
        <p:spPr>
          <a:xfrm>
            <a:off x="5448300" y="3962400"/>
            <a:ext cx="60388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战争扩大了帝国，也伴随人口迁徙和强迫改宗。</a:t>
            </a:r>
          </a:p>
        </p:txBody>
      </p:sp>
      <p:sp>
        <p:nvSpPr>
          <p:cNvPr id="11" name="text-47">
            <a:extLst>
              <a:ext uri="{FF2B5EF4-FFF2-40B4-BE49-F238E27FC236}">
                <a16:creationId xmlns:a16="http://schemas.microsoft.com/office/drawing/2014/main" id="{4922DC04-6E16-472D-A644-6AD8C93DD0EC}"/>
              </a:ext>
            </a:extLst>
          </p:cNvPr>
          <p:cNvSpPr>
            <a:spLocks noGrp="1"/>
          </p:cNvSpPr>
          <p:nvPr/>
        </p:nvSpPr>
        <p:spPr>
          <a:xfrm>
            <a:off x="5448300" y="5153025"/>
            <a:ext cx="60960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地方伯爵掌管审判。</a:t>
            </a:r>
          </a:p>
          <a:p>
            <a:pPr algn="l">
              <a:lnSpc>
                <a:spcPct val="112000"/>
              </a:lnSpc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君主怎样防止他们徇私滥权？</a:t>
            </a:r>
          </a:p>
        </p:txBody>
      </p:sp>
    </p:spTree>
    <p:extLst>
      <p:ext uri="{BB962C8B-B14F-4D97-AF65-F5344CB8AC3E}">
        <p14:creationId xmlns:p14="http://schemas.microsoft.com/office/powerpoint/2010/main" val="1532716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-48">
            <a:extLst>
              <a:ext uri="{FF2B5EF4-FFF2-40B4-BE49-F238E27FC236}">
                <a16:creationId xmlns:a16="http://schemas.microsoft.com/office/drawing/2014/main" id="{D3A7AA50-B098-4435-879A-00485BD362A6}"/>
              </a:ext>
            </a:extLst>
          </p:cNvPr>
          <p:cNvSpPr>
            <a:spLocks noGrp="1"/>
          </p:cNvSpPr>
          <p:nvPr/>
        </p:nvSpPr>
        <p:spPr>
          <a:xfrm>
            <a:off x="609600" y="257175"/>
            <a:ext cx="98107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中世纪欧洲文明   /   地方司法</a:t>
            </a:r>
          </a:p>
        </p:txBody>
      </p:sp>
      <p:sp>
        <p:nvSpPr>
          <p:cNvPr id="2" name="text-49">
            <a:extLst>
              <a:ext uri="{FF2B5EF4-FFF2-40B4-BE49-F238E27FC236}">
                <a16:creationId xmlns:a16="http://schemas.microsoft.com/office/drawing/2014/main" id="{F06817FF-96BE-4C8F-A246-5CEABA3358D0}"/>
              </a:ext>
            </a:extLst>
          </p:cNvPr>
          <p:cNvSpPr>
            <a:spLocks noGrp="1"/>
          </p:cNvSpPr>
          <p:nvPr/>
        </p:nvSpPr>
        <p:spPr>
          <a:xfrm>
            <a:off x="10972800" y="247650"/>
            <a:ext cx="6096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" name="heading-5">
            <a:extLst>
              <a:ext uri="{FF2B5EF4-FFF2-40B4-BE49-F238E27FC236}">
                <a16:creationId xmlns:a16="http://schemas.microsoft.com/office/drawing/2014/main" id="{49500A0F-CB2A-4854-BF66-368695DEC19D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司法改革：监督伯爵，减轻出庭负担</a:t>
            </a:r>
          </a:p>
        </p:txBody>
      </p:sp>
      <p:sp>
        <p:nvSpPr>
          <p:cNvPr id="4" name="rule-50">
            <a:extLst>
              <a:ext uri="{FF2B5EF4-FFF2-40B4-BE49-F238E27FC236}">
                <a16:creationId xmlns:a16="http://schemas.microsoft.com/office/drawing/2014/main" id="{5310B7F0-2007-4EBC-BFAC-B7D2D79A4048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972800" cy="0"/>
          </a:xfrm>
          <a:prstGeom prst="line">
            <a:avLst/>
          </a:prstGeom>
          <a:noFill/>
          <a:ln w="9525">
            <a:solidFill>
              <a:srgbClr val="C9C4B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text-51">
            <a:extLst>
              <a:ext uri="{FF2B5EF4-FFF2-40B4-BE49-F238E27FC236}">
                <a16:creationId xmlns:a16="http://schemas.microsoft.com/office/drawing/2014/main" id="{903714FD-E3FD-48BB-855F-94FB52B193B4}"/>
              </a:ext>
            </a:extLst>
          </p:cNvPr>
          <p:cNvSpPr>
            <a:spLocks noGrp="1"/>
          </p:cNvSpPr>
          <p:nvPr/>
        </p:nvSpPr>
        <p:spPr>
          <a:xfrm>
            <a:off x="609600" y="6181725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endParaRPr sz="1223" b="0">
              <a:solidFill>
                <a:srgbClr val="59646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text-52">
            <a:extLst>
              <a:ext uri="{FF2B5EF4-FFF2-40B4-BE49-F238E27FC236}">
                <a16:creationId xmlns:a16="http://schemas.microsoft.com/office/drawing/2014/main" id="{FF3863B5-5CA0-4B01-AB5C-F913586098A3}"/>
              </a:ext>
            </a:extLst>
          </p:cNvPr>
          <p:cNvSpPr>
            <a:spLocks noGrp="1"/>
          </p:cNvSpPr>
          <p:nvPr/>
        </p:nvSpPr>
        <p:spPr>
          <a:xfrm>
            <a:off x="609600" y="1752600"/>
            <a:ext cx="1666875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监督地方</a:t>
            </a:r>
          </a:p>
        </p:txBody>
      </p:sp>
      <p:sp>
        <p:nvSpPr>
          <p:cNvPr id="7" name="text-53">
            <a:extLst>
              <a:ext uri="{FF2B5EF4-FFF2-40B4-BE49-F238E27FC236}">
                <a16:creationId xmlns:a16="http://schemas.microsoft.com/office/drawing/2014/main" id="{59BC0483-5D7A-4D0B-87AF-F9645445FE60}"/>
              </a:ext>
            </a:extLst>
          </p:cNvPr>
          <p:cNvSpPr>
            <a:spLocks noGrp="1"/>
          </p:cNvSpPr>
          <p:nvPr/>
        </p:nvSpPr>
        <p:spPr>
          <a:xfrm>
            <a:off x="2505075" y="1733550"/>
            <a:ext cx="895350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巡察使介入司法</a:t>
            </a:r>
          </a:p>
        </p:txBody>
      </p:sp>
      <p:sp>
        <p:nvSpPr>
          <p:cNvPr id="8" name="text-54">
            <a:extLst>
              <a:ext uri="{FF2B5EF4-FFF2-40B4-BE49-F238E27FC236}">
                <a16:creationId xmlns:a16="http://schemas.microsoft.com/office/drawing/2014/main" id="{5ACF24A3-DCAC-4D3C-9E39-88D0B89CD292}"/>
              </a:ext>
            </a:extLst>
          </p:cNvPr>
          <p:cNvSpPr>
            <a:spLocks noGrp="1"/>
          </p:cNvSpPr>
          <p:nvPr/>
        </p:nvSpPr>
        <p:spPr>
          <a:xfrm>
            <a:off x="2505075" y="2200275"/>
            <a:ext cx="8953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检查伯爵怎样办案，干预徇私和受贿</a:t>
            </a:r>
          </a:p>
        </p:txBody>
      </p:sp>
      <p:sp>
        <p:nvSpPr>
          <p:cNvPr id="9" name="rule-55">
            <a:extLst>
              <a:ext uri="{FF2B5EF4-FFF2-40B4-BE49-F238E27FC236}">
                <a16:creationId xmlns:a16="http://schemas.microsoft.com/office/drawing/2014/main" id="{1469E867-1236-4B7A-93EB-E5FB663EC746}"/>
              </a:ext>
            </a:extLst>
          </p:cNvPr>
          <p:cNvSpPr>
            <a:spLocks noGrp="1"/>
          </p:cNvSpPr>
          <p:nvPr/>
        </p:nvSpPr>
        <p:spPr>
          <a:xfrm>
            <a:off x="2505075" y="2647950"/>
            <a:ext cx="9077325" cy="0"/>
          </a:xfrm>
          <a:prstGeom prst="line">
            <a:avLst/>
          </a:prstGeom>
          <a:noFill/>
          <a:ln w="9525">
            <a:solidFill>
              <a:srgbClr val="C9C4B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text-56">
            <a:extLst>
              <a:ext uri="{FF2B5EF4-FFF2-40B4-BE49-F238E27FC236}">
                <a16:creationId xmlns:a16="http://schemas.microsoft.com/office/drawing/2014/main" id="{38CEC33C-C08E-4B94-BDF9-D3704FF21F1E}"/>
              </a:ext>
            </a:extLst>
          </p:cNvPr>
          <p:cNvSpPr>
            <a:spLocks noGrp="1"/>
          </p:cNvSpPr>
          <p:nvPr/>
        </p:nvSpPr>
        <p:spPr>
          <a:xfrm>
            <a:off x="609600" y="2819400"/>
            <a:ext cx="1666875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固定人员</a:t>
            </a:r>
          </a:p>
        </p:txBody>
      </p:sp>
      <p:sp>
        <p:nvSpPr>
          <p:cNvPr id="11" name="text-57">
            <a:extLst>
              <a:ext uri="{FF2B5EF4-FFF2-40B4-BE49-F238E27FC236}">
                <a16:creationId xmlns:a16="http://schemas.microsoft.com/office/drawing/2014/main" id="{41DAF457-1480-4854-AA95-0B662BB20BE6}"/>
              </a:ext>
            </a:extLst>
          </p:cNvPr>
          <p:cNvSpPr>
            <a:spLocks noGrp="1"/>
          </p:cNvSpPr>
          <p:nvPr/>
        </p:nvSpPr>
        <p:spPr>
          <a:xfrm>
            <a:off x="2505075" y="2800350"/>
            <a:ext cx="895350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固定审判辅助人员（scabini）</a:t>
            </a:r>
          </a:p>
        </p:txBody>
      </p:sp>
      <p:sp>
        <p:nvSpPr>
          <p:cNvPr id="12" name="text-58">
            <a:extLst>
              <a:ext uri="{FF2B5EF4-FFF2-40B4-BE49-F238E27FC236}">
                <a16:creationId xmlns:a16="http://schemas.microsoft.com/office/drawing/2014/main" id="{E05A973B-0F81-40C7-9745-2EF19971241C}"/>
              </a:ext>
            </a:extLst>
          </p:cNvPr>
          <p:cNvSpPr>
            <a:spLocks noGrp="1"/>
          </p:cNvSpPr>
          <p:nvPr/>
        </p:nvSpPr>
        <p:spPr>
          <a:xfrm>
            <a:off x="2505075" y="3267075"/>
            <a:ext cx="8953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让经常参与审判的人积累法律知识和经验</a:t>
            </a:r>
          </a:p>
        </p:txBody>
      </p:sp>
      <p:sp>
        <p:nvSpPr>
          <p:cNvPr id="13" name="rule-59">
            <a:extLst>
              <a:ext uri="{FF2B5EF4-FFF2-40B4-BE49-F238E27FC236}">
                <a16:creationId xmlns:a16="http://schemas.microsoft.com/office/drawing/2014/main" id="{B48AB3C0-5547-41D6-9BFF-52BC6C9ADDB1}"/>
              </a:ext>
            </a:extLst>
          </p:cNvPr>
          <p:cNvSpPr>
            <a:spLocks noGrp="1"/>
          </p:cNvSpPr>
          <p:nvPr/>
        </p:nvSpPr>
        <p:spPr>
          <a:xfrm>
            <a:off x="2505075" y="3714750"/>
            <a:ext cx="9077325" cy="0"/>
          </a:xfrm>
          <a:prstGeom prst="line">
            <a:avLst/>
          </a:prstGeom>
          <a:noFill/>
          <a:ln w="9525">
            <a:solidFill>
              <a:srgbClr val="C9C4B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text-60">
            <a:extLst>
              <a:ext uri="{FF2B5EF4-FFF2-40B4-BE49-F238E27FC236}">
                <a16:creationId xmlns:a16="http://schemas.microsoft.com/office/drawing/2014/main" id="{11B81CFC-4588-48B7-8E1E-D7A1D65AF3F5}"/>
              </a:ext>
            </a:extLst>
          </p:cNvPr>
          <p:cNvSpPr>
            <a:spLocks noGrp="1"/>
          </p:cNvSpPr>
          <p:nvPr/>
        </p:nvSpPr>
        <p:spPr>
          <a:xfrm>
            <a:off x="609600" y="3886200"/>
            <a:ext cx="1666875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减轻负担</a:t>
            </a:r>
          </a:p>
        </p:txBody>
      </p:sp>
      <p:sp>
        <p:nvSpPr>
          <p:cNvPr id="15" name="text-61">
            <a:extLst>
              <a:ext uri="{FF2B5EF4-FFF2-40B4-BE49-F238E27FC236}">
                <a16:creationId xmlns:a16="http://schemas.microsoft.com/office/drawing/2014/main" id="{F068575F-9734-458A-A93A-19E125F4F741}"/>
              </a:ext>
            </a:extLst>
          </p:cNvPr>
          <p:cNvSpPr>
            <a:spLocks noGrp="1"/>
          </p:cNvSpPr>
          <p:nvPr/>
        </p:nvSpPr>
        <p:spPr>
          <a:xfrm>
            <a:off x="2505075" y="3867150"/>
            <a:ext cx="895350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809：减轻普通自由民出庭义务</a:t>
            </a:r>
          </a:p>
        </p:txBody>
      </p:sp>
      <p:sp>
        <p:nvSpPr>
          <p:cNvPr id="16" name="text-62">
            <a:extLst>
              <a:ext uri="{FF2B5EF4-FFF2-40B4-BE49-F238E27FC236}">
                <a16:creationId xmlns:a16="http://schemas.microsoft.com/office/drawing/2014/main" id="{E6B78CBB-974A-430A-B743-20D48F38846D}"/>
              </a:ext>
            </a:extLst>
          </p:cNvPr>
          <p:cNvSpPr>
            <a:spLocks noGrp="1"/>
          </p:cNvSpPr>
          <p:nvPr/>
        </p:nvSpPr>
        <p:spPr>
          <a:xfrm>
            <a:off x="2505075" y="4333875"/>
            <a:ext cx="8953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普通人减少到场次数，由指定人员承担更多事务</a:t>
            </a:r>
          </a:p>
        </p:txBody>
      </p:sp>
      <p:sp>
        <p:nvSpPr>
          <p:cNvPr id="17" name="text-63">
            <a:extLst>
              <a:ext uri="{FF2B5EF4-FFF2-40B4-BE49-F238E27FC236}">
                <a16:creationId xmlns:a16="http://schemas.microsoft.com/office/drawing/2014/main" id="{AF6B541F-D069-44B9-BA9A-3D59FDEAEA52}"/>
              </a:ext>
            </a:extLst>
          </p:cNvPr>
          <p:cNvSpPr>
            <a:spLocks noGrp="1"/>
          </p:cNvSpPr>
          <p:nvPr/>
        </p:nvSpPr>
        <p:spPr>
          <a:xfrm>
            <a:off x="609600" y="5200650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伯爵仍有很大影响，改革的落实取决于地方上的配合。</a:t>
            </a:r>
          </a:p>
        </p:txBody>
      </p:sp>
    </p:spTree>
    <p:extLst>
      <p:ext uri="{BB962C8B-B14F-4D97-AF65-F5344CB8AC3E}">
        <p14:creationId xmlns:p14="http://schemas.microsoft.com/office/powerpoint/2010/main" val="17843492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-64">
            <a:extLst>
              <a:ext uri="{FF2B5EF4-FFF2-40B4-BE49-F238E27FC236}">
                <a16:creationId xmlns:a16="http://schemas.microsoft.com/office/drawing/2014/main" id="{63F6D2DE-E0D8-4E0E-8E2E-CBF58887A9DB}"/>
              </a:ext>
            </a:extLst>
          </p:cNvPr>
          <p:cNvSpPr>
            <a:spLocks noGrp="1"/>
          </p:cNvSpPr>
          <p:nvPr/>
        </p:nvSpPr>
        <p:spPr>
          <a:xfrm>
            <a:off x="609600" y="257175"/>
            <a:ext cx="98107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中世纪欧洲文明   /   附庸关系</a:t>
            </a:r>
          </a:p>
        </p:txBody>
      </p:sp>
      <p:sp>
        <p:nvSpPr>
          <p:cNvPr id="2" name="text-65">
            <a:extLst>
              <a:ext uri="{FF2B5EF4-FFF2-40B4-BE49-F238E27FC236}">
                <a16:creationId xmlns:a16="http://schemas.microsoft.com/office/drawing/2014/main" id="{75CCE5F8-B3C4-47AD-AF39-94CAAE0A4628}"/>
              </a:ext>
            </a:extLst>
          </p:cNvPr>
          <p:cNvSpPr>
            <a:spLocks noGrp="1"/>
          </p:cNvSpPr>
          <p:nvPr/>
        </p:nvSpPr>
        <p:spPr>
          <a:xfrm>
            <a:off x="10972800" y="247650"/>
            <a:ext cx="6096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" name="heading-6">
            <a:extLst>
              <a:ext uri="{FF2B5EF4-FFF2-40B4-BE49-F238E27FC236}">
                <a16:creationId xmlns:a16="http://schemas.microsoft.com/office/drawing/2014/main" id="{36A2FC36-068A-4BC7-AC39-762038846135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附庸关系怎样帮助查理曼统治</a:t>
            </a:r>
          </a:p>
        </p:txBody>
      </p:sp>
      <p:sp>
        <p:nvSpPr>
          <p:cNvPr id="4" name="rule-66">
            <a:extLst>
              <a:ext uri="{FF2B5EF4-FFF2-40B4-BE49-F238E27FC236}">
                <a16:creationId xmlns:a16="http://schemas.microsoft.com/office/drawing/2014/main" id="{346A0B78-E52E-4ECD-9CC3-18C144201AFD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972800" cy="0"/>
          </a:xfrm>
          <a:prstGeom prst="line">
            <a:avLst/>
          </a:prstGeom>
          <a:noFill/>
          <a:ln w="9525">
            <a:solidFill>
              <a:srgbClr val="C9C4B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text-67">
            <a:extLst>
              <a:ext uri="{FF2B5EF4-FFF2-40B4-BE49-F238E27FC236}">
                <a16:creationId xmlns:a16="http://schemas.microsoft.com/office/drawing/2014/main" id="{514A7831-6EA5-4DBA-B1DE-6B05E3FE2E88}"/>
              </a:ext>
            </a:extLst>
          </p:cNvPr>
          <p:cNvSpPr>
            <a:spLocks noGrp="1"/>
          </p:cNvSpPr>
          <p:nvPr/>
        </p:nvSpPr>
        <p:spPr>
          <a:xfrm>
            <a:off x="609600" y="6181725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endParaRPr sz="1223" b="0">
              <a:solidFill>
                <a:srgbClr val="59646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text-68">
            <a:extLst>
              <a:ext uri="{FF2B5EF4-FFF2-40B4-BE49-F238E27FC236}">
                <a16:creationId xmlns:a16="http://schemas.microsoft.com/office/drawing/2014/main" id="{6D0FC751-0F9F-40F2-87E9-B51444AB9C9E}"/>
              </a:ext>
            </a:extLst>
          </p:cNvPr>
          <p:cNvSpPr>
            <a:spLocks noGrp="1"/>
          </p:cNvSpPr>
          <p:nvPr/>
        </p:nvSpPr>
        <p:spPr>
          <a:xfrm>
            <a:off x="609600" y="1647825"/>
            <a:ext cx="504825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臣民向君主宣誓</a:t>
            </a:r>
          </a:p>
        </p:txBody>
      </p:sp>
      <p:sp>
        <p:nvSpPr>
          <p:cNvPr id="7" name="text-69">
            <a:extLst>
              <a:ext uri="{FF2B5EF4-FFF2-40B4-BE49-F238E27FC236}">
                <a16:creationId xmlns:a16="http://schemas.microsoft.com/office/drawing/2014/main" id="{0C662AD0-7D1F-40DB-A28C-A9F1AA4CCCA1}"/>
              </a:ext>
            </a:extLst>
          </p:cNvPr>
          <p:cNvSpPr>
            <a:spLocks noGrp="1"/>
          </p:cNvSpPr>
          <p:nvPr/>
        </p:nvSpPr>
        <p:spPr>
          <a:xfrm>
            <a:off x="609600" y="2228850"/>
            <a:ext cx="504825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表达对君主的效忠义务</a:t>
            </a:r>
          </a:p>
          <a:p>
            <a:pPr algn="l">
              <a:lnSpc>
                <a:spcPct val="112000"/>
              </a:lnSpc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并不使所有臣民都成为附庸</a:t>
            </a:r>
          </a:p>
        </p:txBody>
      </p:sp>
      <p:sp>
        <p:nvSpPr>
          <p:cNvPr id="8" name="text-70">
            <a:extLst>
              <a:ext uri="{FF2B5EF4-FFF2-40B4-BE49-F238E27FC236}">
                <a16:creationId xmlns:a16="http://schemas.microsoft.com/office/drawing/2014/main" id="{930B9BF7-26A6-402E-810F-004EADE0D762}"/>
              </a:ext>
            </a:extLst>
          </p:cNvPr>
          <p:cNvSpPr>
            <a:spLocks noGrp="1"/>
          </p:cNvSpPr>
          <p:nvPr/>
        </p:nvSpPr>
        <p:spPr>
          <a:xfrm>
            <a:off x="6381750" y="1647825"/>
            <a:ext cx="504825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领主与附庸的关系</a:t>
            </a:r>
          </a:p>
        </p:txBody>
      </p:sp>
      <p:sp>
        <p:nvSpPr>
          <p:cNvPr id="9" name="text-71">
            <a:extLst>
              <a:ext uri="{FF2B5EF4-FFF2-40B4-BE49-F238E27FC236}">
                <a16:creationId xmlns:a16="http://schemas.microsoft.com/office/drawing/2014/main" id="{D4E940A6-CE1F-419B-A529-3418063E17BB}"/>
              </a:ext>
            </a:extLst>
          </p:cNvPr>
          <p:cNvSpPr>
            <a:spLocks noGrp="1"/>
          </p:cNvSpPr>
          <p:nvPr/>
        </p:nvSpPr>
        <p:spPr>
          <a:xfrm>
            <a:off x="6381750" y="2228850"/>
            <a:ext cx="504825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附庸承诺忠诚与服务</a:t>
            </a:r>
          </a:p>
          <a:p>
            <a:pPr algn="l">
              <a:lnSpc>
                <a:spcPct val="112000"/>
              </a:lnSpc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领主承担保护责任</a:t>
            </a:r>
          </a:p>
        </p:txBody>
      </p:sp>
      <p:sp>
        <p:nvSpPr>
          <p:cNvPr id="10" name="text-72">
            <a:extLst>
              <a:ext uri="{FF2B5EF4-FFF2-40B4-BE49-F238E27FC236}">
                <a16:creationId xmlns:a16="http://schemas.microsoft.com/office/drawing/2014/main" id="{51050DEF-B4A2-43EF-AF25-604CFBF16CB5}"/>
              </a:ext>
            </a:extLst>
          </p:cNvPr>
          <p:cNvSpPr>
            <a:spLocks noGrp="1"/>
          </p:cNvSpPr>
          <p:nvPr/>
        </p:nvSpPr>
        <p:spPr>
          <a:xfrm>
            <a:off x="5581650" y="2143125"/>
            <a:ext cx="762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300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34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34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34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34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34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34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34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34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34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12000"/>
              </a:lnSpc>
              <a:buNone/>
              <a:defRPr sz="300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≠</a:t>
            </a:r>
          </a:p>
        </p:txBody>
      </p:sp>
      <p:sp>
        <p:nvSpPr>
          <p:cNvPr id="11" name="rule-73">
            <a:extLst>
              <a:ext uri="{FF2B5EF4-FFF2-40B4-BE49-F238E27FC236}">
                <a16:creationId xmlns:a16="http://schemas.microsoft.com/office/drawing/2014/main" id="{73C7805C-32F2-4B86-930C-0DB0E471C4CC}"/>
              </a:ext>
            </a:extLst>
          </p:cNvPr>
          <p:cNvSpPr>
            <a:spLocks noGrp="1"/>
          </p:cNvSpPr>
          <p:nvPr/>
        </p:nvSpPr>
        <p:spPr>
          <a:xfrm>
            <a:off x="609600" y="3028950"/>
            <a:ext cx="10972800" cy="0"/>
          </a:xfrm>
          <a:prstGeom prst="line">
            <a:avLst/>
          </a:prstGeom>
          <a:noFill/>
          <a:ln w="9525">
            <a:solidFill>
              <a:srgbClr val="C9C4B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text-74">
            <a:extLst>
              <a:ext uri="{FF2B5EF4-FFF2-40B4-BE49-F238E27FC236}">
                <a16:creationId xmlns:a16="http://schemas.microsoft.com/office/drawing/2014/main" id="{2939B539-A0CB-408C-8784-62859368E445}"/>
              </a:ext>
            </a:extLst>
          </p:cNvPr>
          <p:cNvSpPr>
            <a:spLocks noGrp="1"/>
          </p:cNvSpPr>
          <p:nvPr/>
        </p:nvSpPr>
        <p:spPr>
          <a:xfrm>
            <a:off x="609600" y="3752850"/>
            <a:ext cx="171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72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72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72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72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72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72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72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72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72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810年的规定</a:t>
            </a:r>
          </a:p>
        </p:txBody>
      </p:sp>
      <p:sp>
        <p:nvSpPr>
          <p:cNvPr id="13" name="text-75">
            <a:extLst>
              <a:ext uri="{FF2B5EF4-FFF2-40B4-BE49-F238E27FC236}">
                <a16:creationId xmlns:a16="http://schemas.microsoft.com/office/drawing/2014/main" id="{1D11DF21-5CCC-4F3A-9897-98CCA38F63BC}"/>
              </a:ext>
            </a:extLst>
          </p:cNvPr>
          <p:cNvSpPr>
            <a:spLocks noGrp="1"/>
          </p:cNvSpPr>
          <p:nvPr/>
        </p:nvSpPr>
        <p:spPr>
          <a:xfrm>
            <a:off x="2476500" y="3724275"/>
            <a:ext cx="90487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7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7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7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7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7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7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7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7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7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领主要约束属从，使他们服从皇帝的命令。</a:t>
            </a:r>
          </a:p>
        </p:txBody>
      </p:sp>
      <p:sp>
        <p:nvSpPr>
          <p:cNvPr id="14" name="text-76">
            <a:extLst>
              <a:ext uri="{FF2B5EF4-FFF2-40B4-BE49-F238E27FC236}">
                <a16:creationId xmlns:a16="http://schemas.microsoft.com/office/drawing/2014/main" id="{910F19FE-659F-48CD-ADAC-8D9001E2E004}"/>
              </a:ext>
            </a:extLst>
          </p:cNvPr>
          <p:cNvSpPr>
            <a:spLocks noGrp="1"/>
          </p:cNvSpPr>
          <p:nvPr/>
        </p:nvSpPr>
        <p:spPr>
          <a:xfrm>
            <a:off x="609600" y="5314950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王权借助个人忠诚组织军队，也更依赖领主的合作。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DB486A9-F60A-4F5B-ADB8-F153DE2CA922}"/>
              </a:ext>
            </a:extLst>
          </p:cNvPr>
          <p:cNvSpPr>
            <a:spLocks noGrp="1"/>
          </p:cNvSpPr>
          <p:nvPr/>
        </p:nvSpPr>
        <p:spPr>
          <a:xfrm>
            <a:off x="609600" y="3248025"/>
            <a:ext cx="171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875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875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875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875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875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875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875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875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875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2000"/>
              </a:lnSpc>
              <a:buNone/>
              <a:defRPr sz="1875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为何借助领主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4994EEB-6A23-48FB-A4D8-DFA3FDF72684}"/>
              </a:ext>
            </a:extLst>
          </p:cNvPr>
          <p:cNvSpPr>
            <a:spLocks noGrp="1"/>
          </p:cNvSpPr>
          <p:nvPr/>
        </p:nvSpPr>
        <p:spPr>
          <a:xfrm>
            <a:off x="2476500" y="3228975"/>
            <a:ext cx="90487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2000"/>
              </a:lnSpc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官员少、交通不便，君主难以直接联系每个臣民。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6716E46-1202-495D-BA57-41BB773D49AA}"/>
              </a:ext>
            </a:extLst>
          </p:cNvPr>
          <p:cNvSpPr>
            <a:spLocks noGrp="1"/>
          </p:cNvSpPr>
          <p:nvPr/>
        </p:nvSpPr>
        <p:spPr>
          <a:xfrm>
            <a:off x="609600" y="4238625"/>
            <a:ext cx="171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875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875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875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875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875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875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875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875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875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2000"/>
              </a:lnSpc>
              <a:buNone/>
              <a:defRPr sz="1875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具体怎样落实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7C1B520-ED06-479C-96E2-E8A74B8BC1EA}"/>
              </a:ext>
            </a:extLst>
          </p:cNvPr>
          <p:cNvSpPr>
            <a:spLocks noGrp="1"/>
          </p:cNvSpPr>
          <p:nvPr/>
        </p:nvSpPr>
        <p:spPr>
          <a:xfrm>
            <a:off x="2476500" y="4219575"/>
            <a:ext cx="904875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2000"/>
              </a:lnSpc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督促附庸出庭、服军役。领主参战时率领附庸，</a:t>
            </a:r>
          </a:p>
          <a:p>
            <a:pPr>
              <a:lnSpc>
                <a:spcPct val="112000"/>
              </a:lnSpc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领主不在场时，由伯爵直接指挥。</a:t>
            </a:r>
          </a:p>
        </p:txBody>
      </p:sp>
    </p:spTree>
    <p:extLst>
      <p:ext uri="{BB962C8B-B14F-4D97-AF65-F5344CB8AC3E}">
        <p14:creationId xmlns:p14="http://schemas.microsoft.com/office/powerpoint/2010/main" val="1128436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-77">
            <a:extLst>
              <a:ext uri="{FF2B5EF4-FFF2-40B4-BE49-F238E27FC236}">
                <a16:creationId xmlns:a16="http://schemas.microsoft.com/office/drawing/2014/main" id="{C32EBE89-0C5F-4C79-8ADA-F10903C3235F}"/>
              </a:ext>
            </a:extLst>
          </p:cNvPr>
          <p:cNvSpPr>
            <a:spLocks noGrp="1"/>
          </p:cNvSpPr>
          <p:nvPr/>
        </p:nvSpPr>
        <p:spPr>
          <a:xfrm>
            <a:off x="609600" y="257175"/>
            <a:ext cx="98107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中世纪欧洲文明   /   文化与政务</a:t>
            </a:r>
          </a:p>
        </p:txBody>
      </p:sp>
      <p:sp>
        <p:nvSpPr>
          <p:cNvPr id="2" name="text-78">
            <a:extLst>
              <a:ext uri="{FF2B5EF4-FFF2-40B4-BE49-F238E27FC236}">
                <a16:creationId xmlns:a16="http://schemas.microsoft.com/office/drawing/2014/main" id="{BEBFF6FC-6D9A-40AD-B089-64032E54E895}"/>
              </a:ext>
            </a:extLst>
          </p:cNvPr>
          <p:cNvSpPr>
            <a:spLocks noGrp="1"/>
          </p:cNvSpPr>
          <p:nvPr/>
        </p:nvSpPr>
        <p:spPr>
          <a:xfrm>
            <a:off x="10972800" y="247650"/>
            <a:ext cx="6096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" name="heading-7">
            <a:extLst>
              <a:ext uri="{FF2B5EF4-FFF2-40B4-BE49-F238E27FC236}">
                <a16:creationId xmlns:a16="http://schemas.microsoft.com/office/drawing/2014/main" id="{836762A6-53F0-48C2-AF38-29EB7A84DCFE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教育与书写改革怎样帮助治理</a:t>
            </a:r>
          </a:p>
        </p:txBody>
      </p:sp>
      <p:sp>
        <p:nvSpPr>
          <p:cNvPr id="4" name="rule-79">
            <a:extLst>
              <a:ext uri="{FF2B5EF4-FFF2-40B4-BE49-F238E27FC236}">
                <a16:creationId xmlns:a16="http://schemas.microsoft.com/office/drawing/2014/main" id="{EDA8CD03-7B8E-4FB4-A157-448F198CD25C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972800" cy="0"/>
          </a:xfrm>
          <a:prstGeom prst="line">
            <a:avLst/>
          </a:prstGeom>
          <a:noFill/>
          <a:ln w="9525">
            <a:solidFill>
              <a:srgbClr val="C9C4B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text-80">
            <a:extLst>
              <a:ext uri="{FF2B5EF4-FFF2-40B4-BE49-F238E27FC236}">
                <a16:creationId xmlns:a16="http://schemas.microsoft.com/office/drawing/2014/main" id="{13ED493D-60AC-4701-A137-E180FFA6B1EE}"/>
              </a:ext>
            </a:extLst>
          </p:cNvPr>
          <p:cNvSpPr>
            <a:spLocks noGrp="1"/>
          </p:cNvSpPr>
          <p:nvPr/>
        </p:nvSpPr>
        <p:spPr>
          <a:xfrm>
            <a:off x="609600" y="6181725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endParaRPr sz="1223" b="0">
              <a:solidFill>
                <a:srgbClr val="59646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text-81">
            <a:extLst>
              <a:ext uri="{FF2B5EF4-FFF2-40B4-BE49-F238E27FC236}">
                <a16:creationId xmlns:a16="http://schemas.microsoft.com/office/drawing/2014/main" id="{B9B39D74-A9C0-4811-9D46-4D68CAABB3E0}"/>
              </a:ext>
            </a:extLst>
          </p:cNvPr>
          <p:cNvSpPr>
            <a:spLocks noGrp="1"/>
          </p:cNvSpPr>
          <p:nvPr/>
        </p:nvSpPr>
        <p:spPr>
          <a:xfrm>
            <a:off x="2857500" y="1581150"/>
            <a:ext cx="4381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725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具体做法</a:t>
            </a:r>
          </a:p>
        </p:txBody>
      </p:sp>
      <p:sp>
        <p:nvSpPr>
          <p:cNvPr id="7" name="text-82">
            <a:extLst>
              <a:ext uri="{FF2B5EF4-FFF2-40B4-BE49-F238E27FC236}">
                <a16:creationId xmlns:a16="http://schemas.microsoft.com/office/drawing/2014/main" id="{F965427E-3BF7-471F-847C-ED22C3AC253C}"/>
              </a:ext>
            </a:extLst>
          </p:cNvPr>
          <p:cNvSpPr>
            <a:spLocks noGrp="1"/>
          </p:cNvSpPr>
          <p:nvPr/>
        </p:nvSpPr>
        <p:spPr>
          <a:xfrm>
            <a:off x="2857500" y="2066925"/>
            <a:ext cx="43815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789年训令要求教会设校</a:t>
            </a:r>
          </a:p>
          <a:p>
            <a:pPr algn="l">
              <a:lnSpc>
                <a:spcPct val="112000"/>
              </a:lnSpc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教授语法、诗篇和历法计算</a:t>
            </a:r>
          </a:p>
        </p:txBody>
      </p:sp>
      <p:sp>
        <p:nvSpPr>
          <p:cNvPr id="8" name="text-83">
            <a:extLst>
              <a:ext uri="{FF2B5EF4-FFF2-40B4-BE49-F238E27FC236}">
                <a16:creationId xmlns:a16="http://schemas.microsoft.com/office/drawing/2014/main" id="{737247CF-ACD0-419F-8CDA-5D1293A06BBC}"/>
              </a:ext>
            </a:extLst>
          </p:cNvPr>
          <p:cNvSpPr>
            <a:spLocks noGrp="1"/>
          </p:cNvSpPr>
          <p:nvPr/>
        </p:nvSpPr>
        <p:spPr>
          <a:xfrm>
            <a:off x="7715250" y="1581150"/>
            <a:ext cx="38671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725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与治理的联系</a:t>
            </a:r>
          </a:p>
        </p:txBody>
      </p:sp>
      <p:sp>
        <p:nvSpPr>
          <p:cNvPr id="9" name="text-84">
            <a:extLst>
              <a:ext uri="{FF2B5EF4-FFF2-40B4-BE49-F238E27FC236}">
                <a16:creationId xmlns:a16="http://schemas.microsoft.com/office/drawing/2014/main" id="{FC4E2538-6DBE-45C4-A705-1589621A2959}"/>
              </a:ext>
            </a:extLst>
          </p:cNvPr>
          <p:cNvSpPr>
            <a:spLocks noGrp="1"/>
          </p:cNvSpPr>
          <p:nvPr/>
        </p:nvSpPr>
        <p:spPr>
          <a:xfrm>
            <a:off x="7715250" y="2066925"/>
            <a:ext cx="386715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13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913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13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培养熟悉拉丁文的教士</a:t>
            </a:r>
          </a:p>
          <a:p>
            <a:pPr algn="l">
              <a:lnSpc>
                <a:spcPct val="112000"/>
              </a:lnSpc>
              <a:buNone/>
              <a:defRPr sz="1913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13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为教会与文书事务提供人员</a:t>
            </a:r>
          </a:p>
        </p:txBody>
      </p:sp>
      <p:sp>
        <p:nvSpPr>
          <p:cNvPr id="10" name="text-85">
            <a:extLst>
              <a:ext uri="{FF2B5EF4-FFF2-40B4-BE49-F238E27FC236}">
                <a16:creationId xmlns:a16="http://schemas.microsoft.com/office/drawing/2014/main" id="{7CA9D2A8-FB2C-4C8F-B962-920BE1E1DE69}"/>
              </a:ext>
            </a:extLst>
          </p:cNvPr>
          <p:cNvSpPr>
            <a:spLocks noGrp="1"/>
          </p:cNvSpPr>
          <p:nvPr/>
        </p:nvSpPr>
        <p:spPr>
          <a:xfrm>
            <a:off x="609600" y="5410200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教会学校培养读写人才，书籍和书写规范方便各地交流。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865F495-3EC3-43D8-A587-A843E9BA890C}"/>
              </a:ext>
            </a:extLst>
          </p:cNvPr>
          <p:cNvSpPr>
            <a:spLocks noGrp="1"/>
          </p:cNvSpPr>
          <p:nvPr/>
        </p:nvSpPr>
        <p:spPr>
          <a:xfrm>
            <a:off x="609600" y="2066925"/>
            <a:ext cx="1952625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2000"/>
              </a:lnSpc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教会学校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906DF1B-C5A4-4CEE-B967-54234E0AC704}"/>
              </a:ext>
            </a:extLst>
          </p:cNvPr>
          <p:cNvSpPr>
            <a:spLocks noGrp="1"/>
          </p:cNvSpPr>
          <p:nvPr/>
        </p:nvSpPr>
        <p:spPr>
          <a:xfrm>
            <a:off x="609600" y="3143250"/>
            <a:ext cx="1952625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2000"/>
              </a:lnSpc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校订与抄写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7A60489-BDEF-45C7-8D4A-B6B995C49E8E}"/>
              </a:ext>
            </a:extLst>
          </p:cNvPr>
          <p:cNvSpPr>
            <a:spLocks noGrp="1"/>
          </p:cNvSpPr>
          <p:nvPr/>
        </p:nvSpPr>
        <p:spPr>
          <a:xfrm>
            <a:off x="2857500" y="3143250"/>
            <a:ext cx="43815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2000"/>
              </a:lnSpc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阿尔昆在图尔校订《圣经》</a:t>
            </a:r>
          </a:p>
          <a:p>
            <a:pPr>
              <a:lnSpc>
                <a:spcPct val="112000"/>
              </a:lnSpc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抄本通过宫廷与修道院传播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0F3EB4B-0FD3-4F5E-98FF-5ECCB67339A6}"/>
              </a:ext>
            </a:extLst>
          </p:cNvPr>
          <p:cNvSpPr>
            <a:spLocks noGrp="1"/>
          </p:cNvSpPr>
          <p:nvPr/>
        </p:nvSpPr>
        <p:spPr>
          <a:xfrm>
            <a:off x="7715250" y="3143250"/>
            <a:ext cx="386715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13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913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913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913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913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913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913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913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913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913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2000"/>
              </a:lnSpc>
              <a:buNone/>
              <a:defRPr sz="1913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13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校订有误的文本</a:t>
            </a:r>
          </a:p>
          <a:p>
            <a:pPr>
              <a:lnSpc>
                <a:spcPct val="112000"/>
              </a:lnSpc>
              <a:buNone/>
              <a:defRPr sz="1913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13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方便各地取得、使用书籍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FDAC98D-6F7C-4A24-89C9-6C4DB0FCEE1A}"/>
              </a:ext>
            </a:extLst>
          </p:cNvPr>
          <p:cNvSpPr>
            <a:spLocks noGrp="1"/>
          </p:cNvSpPr>
          <p:nvPr/>
        </p:nvSpPr>
        <p:spPr>
          <a:xfrm>
            <a:off x="609600" y="4219575"/>
            <a:ext cx="1952625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2000"/>
              </a:lnSpc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书写规范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9CD4B5E-9EA9-4E7B-A345-73F7787E79C4}"/>
              </a:ext>
            </a:extLst>
          </p:cNvPr>
          <p:cNvSpPr>
            <a:spLocks noGrp="1"/>
          </p:cNvSpPr>
          <p:nvPr/>
        </p:nvSpPr>
        <p:spPr>
          <a:xfrm>
            <a:off x="2857500" y="4219575"/>
            <a:ext cx="43815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2000"/>
              </a:lnSpc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加洛林小写字体逐渐传播</a:t>
            </a:r>
          </a:p>
          <a:p>
            <a:pPr>
              <a:lnSpc>
                <a:spcPct val="112000"/>
              </a:lnSpc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字形清晰，更容易辨认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631032A-6561-45C6-8548-B7334DCE6F47}"/>
              </a:ext>
            </a:extLst>
          </p:cNvPr>
          <p:cNvSpPr>
            <a:spLocks noGrp="1"/>
          </p:cNvSpPr>
          <p:nvPr/>
        </p:nvSpPr>
        <p:spPr>
          <a:xfrm>
            <a:off x="7715250" y="4219575"/>
            <a:ext cx="386715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13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913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913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913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913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913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913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913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913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913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2000"/>
              </a:lnSpc>
              <a:buNone/>
              <a:defRPr sz="1913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13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便于跨地区阅读、抄写</a:t>
            </a:r>
          </a:p>
          <a:p>
            <a:pPr>
              <a:lnSpc>
                <a:spcPct val="112000"/>
              </a:lnSpc>
              <a:buNone/>
              <a:defRPr sz="1913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13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方便教会之间交流书面信息</a:t>
            </a:r>
          </a:p>
        </p:txBody>
      </p:sp>
    </p:spTree>
    <p:extLst>
      <p:ext uri="{BB962C8B-B14F-4D97-AF65-F5344CB8AC3E}">
        <p14:creationId xmlns:p14="http://schemas.microsoft.com/office/powerpoint/2010/main" val="14759706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-86">
            <a:extLst>
              <a:ext uri="{FF2B5EF4-FFF2-40B4-BE49-F238E27FC236}">
                <a16:creationId xmlns:a16="http://schemas.microsoft.com/office/drawing/2014/main" id="{6F792EA1-49E4-4084-BBFA-F4D7AD84F4BA}"/>
              </a:ext>
            </a:extLst>
          </p:cNvPr>
          <p:cNvSpPr>
            <a:spLocks noGrp="1"/>
          </p:cNvSpPr>
          <p:nvPr/>
        </p:nvSpPr>
        <p:spPr>
          <a:xfrm>
            <a:off x="609600" y="257175"/>
            <a:ext cx="98107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5000"/>
              </a:lnSpc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中世纪欧洲文明   /   地区之间的联系</a:t>
            </a:r>
          </a:p>
        </p:txBody>
      </p:sp>
      <p:sp>
        <p:nvSpPr>
          <p:cNvPr id="2" name="text-87">
            <a:extLst>
              <a:ext uri="{FF2B5EF4-FFF2-40B4-BE49-F238E27FC236}">
                <a16:creationId xmlns:a16="http://schemas.microsoft.com/office/drawing/2014/main" id="{B24BFDB1-B9E1-4327-8415-FECEED9F2892}"/>
              </a:ext>
            </a:extLst>
          </p:cNvPr>
          <p:cNvSpPr>
            <a:spLocks noGrp="1"/>
          </p:cNvSpPr>
          <p:nvPr/>
        </p:nvSpPr>
        <p:spPr>
          <a:xfrm>
            <a:off x="10972800" y="247650"/>
            <a:ext cx="6096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" name="heading-8">
            <a:extLst>
              <a:ext uri="{FF2B5EF4-FFF2-40B4-BE49-F238E27FC236}">
                <a16:creationId xmlns:a16="http://schemas.microsoft.com/office/drawing/2014/main" id="{200F1C66-525C-4848-B14A-C56B5EE1A944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5000"/>
              </a:lnSpc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查理曼统治的“欧洲性”体现在哪里</a:t>
            </a:r>
          </a:p>
        </p:txBody>
      </p:sp>
      <p:sp>
        <p:nvSpPr>
          <p:cNvPr id="4" name="rule-88">
            <a:extLst>
              <a:ext uri="{FF2B5EF4-FFF2-40B4-BE49-F238E27FC236}">
                <a16:creationId xmlns:a16="http://schemas.microsoft.com/office/drawing/2014/main" id="{BA2EE742-20A0-40B3-A534-13780215C352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972800" cy="0"/>
          </a:xfrm>
          <a:prstGeom prst="line">
            <a:avLst/>
          </a:prstGeom>
          <a:noFill/>
          <a:ln w="9525">
            <a:solidFill>
              <a:srgbClr val="C9C4B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text-89">
            <a:extLst>
              <a:ext uri="{FF2B5EF4-FFF2-40B4-BE49-F238E27FC236}">
                <a16:creationId xmlns:a16="http://schemas.microsoft.com/office/drawing/2014/main" id="{4258FC3C-52BB-4B9D-87F7-6C2D6537FF77}"/>
              </a:ext>
            </a:extLst>
          </p:cNvPr>
          <p:cNvSpPr>
            <a:spLocks noGrp="1"/>
          </p:cNvSpPr>
          <p:nvPr/>
        </p:nvSpPr>
        <p:spPr>
          <a:xfrm>
            <a:off x="609600" y="6181725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endParaRPr sz="1223" b="0">
              <a:solidFill>
                <a:srgbClr val="59646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text-90">
            <a:extLst>
              <a:ext uri="{FF2B5EF4-FFF2-40B4-BE49-F238E27FC236}">
                <a16:creationId xmlns:a16="http://schemas.microsoft.com/office/drawing/2014/main" id="{CBFEF221-F979-4D44-B716-80D0608FBD1A}"/>
              </a:ext>
            </a:extLst>
          </p:cNvPr>
          <p:cNvSpPr>
            <a:spLocks noGrp="1"/>
          </p:cNvSpPr>
          <p:nvPr/>
        </p:nvSpPr>
        <p:spPr>
          <a:xfrm>
            <a:off x="609600" y="1790700"/>
            <a:ext cx="196215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6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6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6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6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6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6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6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6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6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5000"/>
              </a:lnSpc>
              <a:buNone/>
              <a:defRPr sz="232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政治重心</a:t>
            </a:r>
          </a:p>
        </p:txBody>
      </p:sp>
      <p:sp>
        <p:nvSpPr>
          <p:cNvPr id="7" name="text-91">
            <a:extLst>
              <a:ext uri="{FF2B5EF4-FFF2-40B4-BE49-F238E27FC236}">
                <a16:creationId xmlns:a16="http://schemas.microsoft.com/office/drawing/2014/main" id="{74D54333-4FC3-43FA-8996-888019782248}"/>
              </a:ext>
            </a:extLst>
          </p:cNvPr>
          <p:cNvSpPr>
            <a:spLocks noGrp="1"/>
          </p:cNvSpPr>
          <p:nvPr/>
        </p:nvSpPr>
        <p:spPr>
          <a:xfrm>
            <a:off x="2857500" y="1752600"/>
            <a:ext cx="87249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5000"/>
              </a:lnSpc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古罗马围绕地中海；查理曼帝国以莱茵河流域为重心，</a:t>
            </a:r>
          </a:p>
          <a:p>
            <a:pPr algn="l">
              <a:lnSpc>
                <a:spcPct val="115000"/>
              </a:lnSpc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亚琛成为重要的政治中心。</a:t>
            </a:r>
          </a:p>
        </p:txBody>
      </p:sp>
      <p:sp>
        <p:nvSpPr>
          <p:cNvPr id="8" name="rule-92">
            <a:extLst>
              <a:ext uri="{FF2B5EF4-FFF2-40B4-BE49-F238E27FC236}">
                <a16:creationId xmlns:a16="http://schemas.microsoft.com/office/drawing/2014/main" id="{B52DBD6F-FC53-4741-93CD-5493CA13ED58}"/>
              </a:ext>
            </a:extLst>
          </p:cNvPr>
          <p:cNvSpPr>
            <a:spLocks noGrp="1"/>
          </p:cNvSpPr>
          <p:nvPr/>
        </p:nvSpPr>
        <p:spPr>
          <a:xfrm>
            <a:off x="609600" y="5095875"/>
            <a:ext cx="10972800" cy="0"/>
          </a:xfrm>
          <a:prstGeom prst="line">
            <a:avLst/>
          </a:prstGeom>
          <a:noFill/>
          <a:ln w="9525">
            <a:solidFill>
              <a:srgbClr val="C9C4B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text-93">
            <a:extLst>
              <a:ext uri="{FF2B5EF4-FFF2-40B4-BE49-F238E27FC236}">
                <a16:creationId xmlns:a16="http://schemas.microsoft.com/office/drawing/2014/main" id="{30A86A7C-F1C1-4A0A-800B-8238422870EE}"/>
              </a:ext>
            </a:extLst>
          </p:cNvPr>
          <p:cNvSpPr>
            <a:spLocks noGrp="1"/>
          </p:cNvSpPr>
          <p:nvPr/>
        </p:nvSpPr>
        <p:spPr>
          <a:xfrm>
            <a:off x="609600" y="2914650"/>
            <a:ext cx="196215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6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6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6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6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6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6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6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6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6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5000"/>
              </a:lnSpc>
              <a:buNone/>
              <a:defRPr sz="232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地方治理</a:t>
            </a:r>
          </a:p>
        </p:txBody>
      </p:sp>
      <p:sp>
        <p:nvSpPr>
          <p:cNvPr id="10" name="text-94">
            <a:extLst>
              <a:ext uri="{FF2B5EF4-FFF2-40B4-BE49-F238E27FC236}">
                <a16:creationId xmlns:a16="http://schemas.microsoft.com/office/drawing/2014/main" id="{EEEC92E0-F2AD-4E76-90AA-E0E007140DC5}"/>
              </a:ext>
            </a:extLst>
          </p:cNvPr>
          <p:cNvSpPr>
            <a:spLocks noGrp="1"/>
          </p:cNvSpPr>
          <p:nvPr/>
        </p:nvSpPr>
        <p:spPr>
          <a:xfrm>
            <a:off x="2857500" y="2876550"/>
            <a:ext cx="87249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5000"/>
              </a:lnSpc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伯爵、地方领主和教会参与治理，</a:t>
            </a:r>
          </a:p>
          <a:p>
            <a:pPr algn="l">
              <a:lnSpc>
                <a:spcPct val="115000"/>
              </a:lnSpc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使西欧、中欧部分地区与意大利北部服从同一位君主。</a:t>
            </a:r>
          </a:p>
        </p:txBody>
      </p:sp>
      <p:sp>
        <p:nvSpPr>
          <p:cNvPr id="11" name="text-95">
            <a:extLst>
              <a:ext uri="{FF2B5EF4-FFF2-40B4-BE49-F238E27FC236}">
                <a16:creationId xmlns:a16="http://schemas.microsoft.com/office/drawing/2014/main" id="{101F56AA-3C04-4B77-96A8-7B1329AD3F4E}"/>
              </a:ext>
            </a:extLst>
          </p:cNvPr>
          <p:cNvSpPr>
            <a:spLocks noGrp="1"/>
          </p:cNvSpPr>
          <p:nvPr/>
        </p:nvSpPr>
        <p:spPr>
          <a:xfrm>
            <a:off x="609600" y="5424487"/>
            <a:ext cx="109728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5000"/>
              </a:lnSpc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 dirty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“</a:t>
            </a:r>
            <a:r>
              <a:rPr sz="2175" b="1" dirty="0" err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欧洲性”体现为这些地区的政治与文化联系</a:t>
            </a:r>
            <a:r>
              <a:rPr sz="2175" b="1" dirty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CCCA87E-C880-4599-AB27-33F90AF1C8EB}"/>
              </a:ext>
            </a:extLst>
          </p:cNvPr>
          <p:cNvSpPr>
            <a:spLocks noGrp="1"/>
          </p:cNvSpPr>
          <p:nvPr/>
        </p:nvSpPr>
        <p:spPr>
          <a:xfrm>
            <a:off x="609600" y="4038600"/>
            <a:ext cx="196215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232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文化往来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6CFF959-6188-4EB8-906A-7E27DAEA0562}"/>
              </a:ext>
            </a:extLst>
          </p:cNvPr>
          <p:cNvSpPr>
            <a:spLocks noGrp="1"/>
          </p:cNvSpPr>
          <p:nvPr/>
        </p:nvSpPr>
        <p:spPr>
          <a:xfrm>
            <a:off x="2857500" y="4000500"/>
            <a:ext cx="87249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 dirty="0" err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不列颠的阿尔昆、比萨的彼得在宫廷任教</a:t>
            </a:r>
            <a:r>
              <a:rPr sz="2100" b="0" dirty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；</a:t>
            </a:r>
          </a:p>
          <a:p>
            <a:pPr>
              <a:lnSpc>
                <a:spcPct val="115000"/>
              </a:lnSpc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 dirty="0" err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拉丁文书籍在宫廷与修道院之间流通</a:t>
            </a:r>
            <a:r>
              <a:rPr sz="2100" b="0" dirty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1F6DA64-819E-4E04-981D-97582856824E}"/>
              </a:ext>
            </a:extLst>
          </p:cNvPr>
          <p:cNvSpPr>
            <a:spLocks noGrp="1"/>
          </p:cNvSpPr>
          <p:nvPr/>
        </p:nvSpPr>
        <p:spPr>
          <a:xfrm>
            <a:off x="609600" y="5657850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72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endParaRPr sz="1725" b="0" dirty="0">
              <a:solidFill>
                <a:srgbClr val="59646B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0371074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-96">
            <a:extLst>
              <a:ext uri="{FF2B5EF4-FFF2-40B4-BE49-F238E27FC236}">
                <a16:creationId xmlns:a16="http://schemas.microsoft.com/office/drawing/2014/main" id="{CD97A67C-D6CA-46AE-9198-902725ABAF5B}"/>
              </a:ext>
            </a:extLst>
          </p:cNvPr>
          <p:cNvSpPr>
            <a:spLocks noGrp="1"/>
          </p:cNvSpPr>
          <p:nvPr/>
        </p:nvSpPr>
        <p:spPr>
          <a:xfrm>
            <a:off x="609600" y="257175"/>
            <a:ext cx="98107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中世纪欧洲文明   /   比较与判断</a:t>
            </a:r>
          </a:p>
        </p:txBody>
      </p:sp>
      <p:sp>
        <p:nvSpPr>
          <p:cNvPr id="2" name="text-97">
            <a:extLst>
              <a:ext uri="{FF2B5EF4-FFF2-40B4-BE49-F238E27FC236}">
                <a16:creationId xmlns:a16="http://schemas.microsoft.com/office/drawing/2014/main" id="{7D5EC5A6-1785-42A5-88BF-6988D71994E5}"/>
              </a:ext>
            </a:extLst>
          </p:cNvPr>
          <p:cNvSpPr>
            <a:spLocks noGrp="1"/>
          </p:cNvSpPr>
          <p:nvPr/>
        </p:nvSpPr>
        <p:spPr>
          <a:xfrm>
            <a:off x="10972800" y="247650"/>
            <a:ext cx="6096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" name="heading-9">
            <a:extLst>
              <a:ext uri="{FF2B5EF4-FFF2-40B4-BE49-F238E27FC236}">
                <a16:creationId xmlns:a16="http://schemas.microsoft.com/office/drawing/2014/main" id="{6BEF4E50-C05D-4262-8EDE-1597357750DA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罗马传统如何在新环境中延续</a:t>
            </a:r>
          </a:p>
        </p:txBody>
      </p:sp>
      <p:sp>
        <p:nvSpPr>
          <p:cNvPr id="4" name="rule-98">
            <a:extLst>
              <a:ext uri="{FF2B5EF4-FFF2-40B4-BE49-F238E27FC236}">
                <a16:creationId xmlns:a16="http://schemas.microsoft.com/office/drawing/2014/main" id="{30676A92-5DA3-42B4-8482-9F177B389F52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972800" cy="0"/>
          </a:xfrm>
          <a:prstGeom prst="line">
            <a:avLst/>
          </a:prstGeom>
          <a:noFill/>
          <a:ln w="9525">
            <a:solidFill>
              <a:srgbClr val="C9C4B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text-99">
            <a:extLst>
              <a:ext uri="{FF2B5EF4-FFF2-40B4-BE49-F238E27FC236}">
                <a16:creationId xmlns:a16="http://schemas.microsoft.com/office/drawing/2014/main" id="{508EDE70-FA49-443A-BEA0-30086E3B1BC7}"/>
              </a:ext>
            </a:extLst>
          </p:cNvPr>
          <p:cNvSpPr>
            <a:spLocks noGrp="1"/>
          </p:cNvSpPr>
          <p:nvPr/>
        </p:nvSpPr>
        <p:spPr>
          <a:xfrm>
            <a:off x="609600" y="6181725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endParaRPr sz="1223" b="0">
              <a:solidFill>
                <a:srgbClr val="59646B"/>
              </a:solidFill>
              <a:latin typeface="Microsoft YaHei"/>
              <a:ea typeface="Microsoft YaHei"/>
              <a:cs typeface="Microsoft YaHei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EE988286-7CF8-4138-B7BA-05D50E4E3204}"/>
              </a:ext>
            </a:extLst>
          </p:cNvPr>
          <p:cNvGraphicFramePr/>
          <p:nvPr/>
        </p:nvGraphicFramePr>
        <p:xfrm>
          <a:off x="609600" y="1733550"/>
          <a:ext cx="10972800" cy="2952750"/>
        </p:xfrm>
        <a:graphic>
          <a:graphicData uri="http://schemas.openxmlformats.org/drawingml/2006/table">
            <a:tbl>
              <a:tblPr firstRow="1"/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7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91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比较内容</a:t>
                      </a:r>
                    </a:p>
                  </a:txBody>
                  <a:tcPr marL="142875" marR="142875" marT="114300" marB="114300" anchor="ctr">
                    <a:lnL w="9525">
                      <a:solidFill>
                        <a:srgbClr val="C9C4B9"/>
                      </a:solidFill>
                      <a:prstDash val="solid"/>
                    </a:lnL>
                    <a:lnR w="9525">
                      <a:solidFill>
                        <a:srgbClr val="C9C4B9"/>
                      </a:solidFill>
                      <a:prstDash val="solid"/>
                    </a:lnR>
                    <a:lnT w="9525">
                      <a:solidFill>
                        <a:srgbClr val="C9C4B9"/>
                      </a:solidFill>
                      <a:prstDash val="solid"/>
                    </a:lnT>
                    <a:lnB w="9525">
                      <a:solidFill>
                        <a:srgbClr val="C9C4B9"/>
                      </a:solidFill>
                      <a:prstDash val="solid"/>
                    </a:lnB>
                    <a:solidFill>
                      <a:srgbClr val="2034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继承的罗马传统</a:t>
                      </a:r>
                    </a:p>
                  </a:txBody>
                  <a:tcPr marL="142875" marR="142875" marT="114300" marB="114300" anchor="ctr">
                    <a:lnL w="9525" cmpd="sng">
                      <a:solidFill>
                        <a:srgbClr val="C9C4B9"/>
                      </a:solidFill>
                      <a:prstDash val="solid"/>
                    </a:lnL>
                    <a:lnR w="9525">
                      <a:solidFill>
                        <a:srgbClr val="C9C4B9"/>
                      </a:solidFill>
                      <a:prstDash val="solid"/>
                    </a:lnR>
                    <a:lnT w="9525">
                      <a:solidFill>
                        <a:srgbClr val="C9C4B9"/>
                      </a:solidFill>
                      <a:prstDash val="solid"/>
                    </a:lnT>
                    <a:lnB w="9525">
                      <a:solidFill>
                        <a:srgbClr val="C9C4B9"/>
                      </a:solidFill>
                      <a:prstDash val="solid"/>
                    </a:lnB>
                    <a:solidFill>
                      <a:srgbClr val="2034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查理曼的具体做法</a:t>
                      </a:r>
                    </a:p>
                  </a:txBody>
                  <a:tcPr marL="142875" marR="142875" marT="114300" marB="114300" anchor="ctr">
                    <a:lnL w="9525" cmpd="sng">
                      <a:solidFill>
                        <a:srgbClr val="C9C4B9"/>
                      </a:solidFill>
                      <a:prstDash val="solid"/>
                    </a:lnL>
                    <a:lnR w="9525">
                      <a:solidFill>
                        <a:srgbClr val="C9C4B9"/>
                      </a:solidFill>
                      <a:prstDash val="solid"/>
                    </a:lnR>
                    <a:lnT w="9525">
                      <a:solidFill>
                        <a:srgbClr val="C9C4B9"/>
                      </a:solidFill>
                      <a:prstDash val="solid"/>
                    </a:lnT>
                    <a:lnB w="9525">
                      <a:solidFill>
                        <a:srgbClr val="C9C4B9"/>
                      </a:solidFill>
                      <a:prstDash val="solid"/>
                    </a:lnB>
                    <a:solidFill>
                      <a:srgbClr val="2034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034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皇帝身份</a:t>
                      </a:r>
                    </a:p>
                  </a:txBody>
                  <a:tcPr marL="142875" marR="142875" marT="114300" marB="114300" anchor="ctr">
                    <a:lnL w="9525">
                      <a:solidFill>
                        <a:srgbClr val="C9C4B9"/>
                      </a:solidFill>
                      <a:prstDash val="solid"/>
                    </a:lnL>
                    <a:lnR w="9525">
                      <a:solidFill>
                        <a:srgbClr val="C9C4B9"/>
                      </a:solidFill>
                      <a:prstDash val="solid"/>
                    </a:lnR>
                    <a:lnT w="9525" cmpd="sng">
                      <a:solidFill>
                        <a:srgbClr val="C9C4B9"/>
                      </a:solidFill>
                      <a:prstDash val="solid"/>
                    </a:lnT>
                    <a:lnB w="9525">
                      <a:solidFill>
                        <a:srgbClr val="C9C4B9"/>
                      </a:solidFill>
                      <a:prstDash val="solid"/>
                    </a:lnB>
                    <a:solidFill>
                      <a:srgbClr val="E8E3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4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皇帝称号与基督教帝国理想</a:t>
                      </a:r>
                    </a:p>
                  </a:txBody>
                  <a:tcPr marL="142875" marR="142875" marT="114300" marB="114300" anchor="ctr">
                    <a:lnL w="9525" cmpd="sng">
                      <a:solidFill>
                        <a:srgbClr val="C9C4B9"/>
                      </a:solidFill>
                      <a:prstDash val="solid"/>
                    </a:lnL>
                    <a:lnR w="9525">
                      <a:solidFill>
                        <a:srgbClr val="C9C4B9"/>
                      </a:solidFill>
                      <a:prstDash val="solid"/>
                    </a:lnR>
                    <a:lnT w="9525" cmpd="sng">
                      <a:solidFill>
                        <a:srgbClr val="C9C4B9"/>
                      </a:solidFill>
                      <a:prstDash val="solid"/>
                    </a:lnT>
                    <a:lnB w="9525">
                      <a:solidFill>
                        <a:srgbClr val="C9C4B9"/>
                      </a:solidFill>
                      <a:prstDash val="soli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4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接受加冕，同时保留法兰克与伦巴第王权</a:t>
                      </a:r>
                    </a:p>
                  </a:txBody>
                  <a:tcPr marL="142875" marR="142875" marT="114300" marB="114300" anchor="ctr">
                    <a:lnL w="9525" cmpd="sng">
                      <a:solidFill>
                        <a:srgbClr val="C9C4B9"/>
                      </a:solidFill>
                      <a:prstDash val="solid"/>
                    </a:lnL>
                    <a:lnR w="9525">
                      <a:solidFill>
                        <a:srgbClr val="C9C4B9"/>
                      </a:solidFill>
                      <a:prstDash val="solid"/>
                    </a:lnR>
                    <a:lnT w="9525" cmpd="sng">
                      <a:solidFill>
                        <a:srgbClr val="C9C4B9"/>
                      </a:solidFill>
                      <a:prstDash val="solid"/>
                    </a:lnT>
                    <a:lnB w="9525">
                      <a:solidFill>
                        <a:srgbClr val="C9C4B9"/>
                      </a:solidFill>
                      <a:prstDash val="solid"/>
                    </a:lnB>
                    <a:solidFill>
                      <a:srgbClr val="F5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034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地方司法</a:t>
                      </a:r>
                    </a:p>
                  </a:txBody>
                  <a:tcPr marL="142875" marR="142875" marT="114300" marB="114300" anchor="ctr">
                    <a:lnL w="9525">
                      <a:solidFill>
                        <a:srgbClr val="C9C4B9"/>
                      </a:solidFill>
                      <a:prstDash val="solid"/>
                    </a:lnL>
                    <a:lnR w="9525">
                      <a:solidFill>
                        <a:srgbClr val="C9C4B9"/>
                      </a:solidFill>
                      <a:prstDash val="solid"/>
                    </a:lnR>
                    <a:lnT w="9525" cmpd="sng">
                      <a:solidFill>
                        <a:srgbClr val="C9C4B9"/>
                      </a:solidFill>
                      <a:prstDash val="solid"/>
                    </a:lnT>
                    <a:lnB w="9525">
                      <a:solidFill>
                        <a:srgbClr val="C9C4B9"/>
                      </a:solidFill>
                      <a:prstDash val="solid"/>
                    </a:lnB>
                    <a:solidFill>
                      <a:srgbClr val="E8E3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4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君主有维护正义的责任</a:t>
                      </a:r>
                    </a:p>
                  </a:txBody>
                  <a:tcPr marL="142875" marR="142875" marT="114300" marB="114300" anchor="ctr">
                    <a:lnL w="9525" cmpd="sng">
                      <a:solidFill>
                        <a:srgbClr val="C9C4B9"/>
                      </a:solidFill>
                      <a:prstDash val="solid"/>
                    </a:lnL>
                    <a:lnR w="9525">
                      <a:solidFill>
                        <a:srgbClr val="C9C4B9"/>
                      </a:solidFill>
                      <a:prstDash val="solid"/>
                    </a:lnR>
                    <a:lnT w="9525" cmpd="sng">
                      <a:solidFill>
                        <a:srgbClr val="C9C4B9"/>
                      </a:solidFill>
                      <a:prstDash val="solid"/>
                    </a:lnT>
                    <a:lnB w="9525">
                      <a:solidFill>
                        <a:srgbClr val="C9C4B9"/>
                      </a:solidFill>
                      <a:prstDash val="soli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4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巡察使监督伯爵，固定人员辅助审判</a:t>
                      </a:r>
                    </a:p>
                  </a:txBody>
                  <a:tcPr marL="142875" marR="142875" marT="114300" marB="114300" anchor="ctr">
                    <a:lnL w="9525" cmpd="sng">
                      <a:solidFill>
                        <a:srgbClr val="C9C4B9"/>
                      </a:solidFill>
                      <a:prstDash val="solid"/>
                    </a:lnL>
                    <a:lnR w="9525">
                      <a:solidFill>
                        <a:srgbClr val="C9C4B9"/>
                      </a:solidFill>
                      <a:prstDash val="solid"/>
                    </a:lnR>
                    <a:lnT w="9525" cmpd="sng">
                      <a:solidFill>
                        <a:srgbClr val="C9C4B9"/>
                      </a:solidFill>
                      <a:prstDash val="solid"/>
                    </a:lnT>
                    <a:lnB w="9525">
                      <a:solidFill>
                        <a:srgbClr val="C9C4B9"/>
                      </a:solidFill>
                      <a:prstDash val="solid"/>
                    </a:lnB>
                    <a:solidFill>
                      <a:srgbClr val="F5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034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政务与征兵</a:t>
                      </a:r>
                    </a:p>
                  </a:txBody>
                  <a:tcPr marL="142875" marR="142875" marT="114300" marB="114300" anchor="ctr">
                    <a:lnL w="9525">
                      <a:solidFill>
                        <a:srgbClr val="C9C4B9"/>
                      </a:solidFill>
                      <a:prstDash val="solid"/>
                    </a:lnL>
                    <a:lnR w="9525">
                      <a:solidFill>
                        <a:srgbClr val="C9C4B9"/>
                      </a:solidFill>
                      <a:prstDash val="solid"/>
                    </a:lnR>
                    <a:lnT w="9525" cmpd="sng">
                      <a:solidFill>
                        <a:srgbClr val="C9C4B9"/>
                      </a:solidFill>
                      <a:prstDash val="solid"/>
                    </a:lnT>
                    <a:lnB w="9525">
                      <a:solidFill>
                        <a:srgbClr val="C9C4B9"/>
                      </a:solidFill>
                      <a:prstDash val="solid"/>
                    </a:lnB>
                    <a:solidFill>
                      <a:srgbClr val="E8E3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4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教会参与帝国事务</a:t>
                      </a:r>
                    </a:p>
                  </a:txBody>
                  <a:tcPr marL="142875" marR="142875" marT="114300" marB="114300" anchor="ctr">
                    <a:lnL w="9525" cmpd="sng">
                      <a:solidFill>
                        <a:srgbClr val="C9C4B9"/>
                      </a:solidFill>
                      <a:prstDash val="solid"/>
                    </a:lnL>
                    <a:lnR w="9525">
                      <a:solidFill>
                        <a:srgbClr val="C9C4B9"/>
                      </a:solidFill>
                      <a:prstDash val="solid"/>
                    </a:lnR>
                    <a:lnT w="9525" cmpd="sng">
                      <a:solidFill>
                        <a:srgbClr val="C9C4B9"/>
                      </a:solidFill>
                      <a:prstDash val="solid"/>
                    </a:lnT>
                    <a:lnB w="9525">
                      <a:solidFill>
                        <a:srgbClr val="C9C4B9"/>
                      </a:solidFill>
                      <a:prstDash val="soli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4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借领主召集人员，依靠教士处理文书</a:t>
                      </a:r>
                    </a:p>
                  </a:txBody>
                  <a:tcPr marL="142875" marR="142875" marT="114300" marB="114300" anchor="ctr">
                    <a:lnL w="9525" cmpd="sng">
                      <a:solidFill>
                        <a:srgbClr val="C9C4B9"/>
                      </a:solidFill>
                      <a:prstDash val="solid"/>
                    </a:lnL>
                    <a:lnR w="9525">
                      <a:solidFill>
                        <a:srgbClr val="C9C4B9"/>
                      </a:solidFill>
                      <a:prstDash val="solid"/>
                    </a:lnR>
                    <a:lnT w="9525" cmpd="sng">
                      <a:solidFill>
                        <a:srgbClr val="C9C4B9"/>
                      </a:solidFill>
                      <a:prstDash val="solid"/>
                    </a:lnT>
                    <a:lnB w="9525">
                      <a:solidFill>
                        <a:srgbClr val="C9C4B9"/>
                      </a:solidFill>
                      <a:prstDash val="solid"/>
                    </a:lnB>
                    <a:solidFill>
                      <a:srgbClr val="F5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-100">
            <a:extLst>
              <a:ext uri="{FF2B5EF4-FFF2-40B4-BE49-F238E27FC236}">
                <a16:creationId xmlns:a16="http://schemas.microsoft.com/office/drawing/2014/main" id="{676E4651-4A91-48D9-B25F-FE4FF3F0FD66}"/>
              </a:ext>
            </a:extLst>
          </p:cNvPr>
          <p:cNvSpPr>
            <a:spLocks noGrp="1"/>
          </p:cNvSpPr>
          <p:nvPr/>
        </p:nvSpPr>
        <p:spPr>
          <a:xfrm>
            <a:off x="609600" y="5191125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4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4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4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4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4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4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4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4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4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4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罗马皇帝的理想，在法兰克社会中有了不同的实现方式。</a:t>
            </a:r>
          </a:p>
        </p:txBody>
      </p:sp>
    </p:spTree>
    <p:extLst>
      <p:ext uri="{BB962C8B-B14F-4D97-AF65-F5344CB8AC3E}">
        <p14:creationId xmlns:p14="http://schemas.microsoft.com/office/powerpoint/2010/main" val="3158924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101">
            <a:extLst>
              <a:ext uri="{FF2B5EF4-FFF2-40B4-BE49-F238E27FC236}">
                <a16:creationId xmlns:a16="http://schemas.microsoft.com/office/drawing/2014/main" id="{CF6F0C90-16FF-4D87-B5C5-728F4308A32D}"/>
              </a:ext>
            </a:extLst>
          </p:cNvPr>
          <p:cNvSpPr>
            <a:spLocks noGrp="1"/>
          </p:cNvSpPr>
          <p:nvPr/>
        </p:nvSpPr>
        <p:spPr>
          <a:xfrm>
            <a:off x="609600" y="257175"/>
            <a:ext cx="98107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中世纪欧洲文明   /   结论</a:t>
            </a:r>
          </a:p>
        </p:txBody>
      </p:sp>
      <p:sp>
        <p:nvSpPr>
          <p:cNvPr id="2" name="text-102">
            <a:extLst>
              <a:ext uri="{FF2B5EF4-FFF2-40B4-BE49-F238E27FC236}">
                <a16:creationId xmlns:a16="http://schemas.microsoft.com/office/drawing/2014/main" id="{D394B6C6-374F-4676-9D7E-AB5A9A37BBF5}"/>
              </a:ext>
            </a:extLst>
          </p:cNvPr>
          <p:cNvSpPr>
            <a:spLocks noGrp="1"/>
          </p:cNvSpPr>
          <p:nvPr/>
        </p:nvSpPr>
        <p:spPr>
          <a:xfrm>
            <a:off x="10972800" y="247650"/>
            <a:ext cx="6096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" name="heading-10">
            <a:extLst>
              <a:ext uri="{FF2B5EF4-FFF2-40B4-BE49-F238E27FC236}">
                <a16:creationId xmlns:a16="http://schemas.microsoft.com/office/drawing/2014/main" id="{325A10CB-ABF1-47D1-8F94-495D9F880932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我们更倾向于称他为新型欧洲君主</a:t>
            </a:r>
          </a:p>
        </p:txBody>
      </p:sp>
      <p:sp>
        <p:nvSpPr>
          <p:cNvPr id="4" name="rule-103">
            <a:extLst>
              <a:ext uri="{FF2B5EF4-FFF2-40B4-BE49-F238E27FC236}">
                <a16:creationId xmlns:a16="http://schemas.microsoft.com/office/drawing/2014/main" id="{90FB13DE-7552-40F5-8BCB-904B4EF49BA1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972800" cy="0"/>
          </a:xfrm>
          <a:prstGeom prst="line">
            <a:avLst/>
          </a:prstGeom>
          <a:noFill/>
          <a:ln w="9525">
            <a:solidFill>
              <a:srgbClr val="C9C4B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text-104">
            <a:extLst>
              <a:ext uri="{FF2B5EF4-FFF2-40B4-BE49-F238E27FC236}">
                <a16:creationId xmlns:a16="http://schemas.microsoft.com/office/drawing/2014/main" id="{0B3D0BE9-DCCC-4EE1-BCB4-87E0F47B195F}"/>
              </a:ext>
            </a:extLst>
          </p:cNvPr>
          <p:cNvSpPr>
            <a:spLocks noGrp="1"/>
          </p:cNvSpPr>
          <p:nvPr/>
        </p:nvSpPr>
        <p:spPr>
          <a:xfrm>
            <a:off x="609600" y="6181725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endParaRPr sz="1223" b="0">
              <a:solidFill>
                <a:srgbClr val="59646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text-105">
            <a:extLst>
              <a:ext uri="{FF2B5EF4-FFF2-40B4-BE49-F238E27FC236}">
                <a16:creationId xmlns:a16="http://schemas.microsoft.com/office/drawing/2014/main" id="{E2813655-2B52-42AB-9666-B18F632690CF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333375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军事征服</a:t>
            </a:r>
          </a:p>
        </p:txBody>
      </p:sp>
      <p:sp>
        <p:nvSpPr>
          <p:cNvPr id="7" name="text-106">
            <a:extLst>
              <a:ext uri="{FF2B5EF4-FFF2-40B4-BE49-F238E27FC236}">
                <a16:creationId xmlns:a16="http://schemas.microsoft.com/office/drawing/2014/main" id="{6101F2F5-73E2-4B18-A656-4DD77DBAE310}"/>
              </a:ext>
            </a:extLst>
          </p:cNvPr>
          <p:cNvSpPr>
            <a:spLocks noGrp="1"/>
          </p:cNvSpPr>
          <p:nvPr/>
        </p:nvSpPr>
        <p:spPr>
          <a:xfrm>
            <a:off x="609600" y="2438400"/>
            <a:ext cx="3333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扩大领土</a:t>
            </a:r>
          </a:p>
          <a:p>
            <a:pPr algn="l">
              <a:lnSpc>
                <a:spcPct val="112000"/>
              </a:lnSpc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把多个地区纳入统治</a:t>
            </a:r>
          </a:p>
        </p:txBody>
      </p:sp>
      <p:sp>
        <p:nvSpPr>
          <p:cNvPr id="8" name="text-107">
            <a:extLst>
              <a:ext uri="{FF2B5EF4-FFF2-40B4-BE49-F238E27FC236}">
                <a16:creationId xmlns:a16="http://schemas.microsoft.com/office/drawing/2014/main" id="{B109F5F2-682B-461C-A8E5-71232CF88381}"/>
              </a:ext>
            </a:extLst>
          </p:cNvPr>
          <p:cNvSpPr>
            <a:spLocks noGrp="1"/>
          </p:cNvSpPr>
          <p:nvPr/>
        </p:nvSpPr>
        <p:spPr>
          <a:xfrm>
            <a:off x="4400550" y="1809750"/>
            <a:ext cx="333375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地方治理</a:t>
            </a:r>
          </a:p>
        </p:txBody>
      </p:sp>
      <p:sp>
        <p:nvSpPr>
          <p:cNvPr id="9" name="text-108">
            <a:extLst>
              <a:ext uri="{FF2B5EF4-FFF2-40B4-BE49-F238E27FC236}">
                <a16:creationId xmlns:a16="http://schemas.microsoft.com/office/drawing/2014/main" id="{0866720F-C336-4495-B45A-59F38E7259DF}"/>
              </a:ext>
            </a:extLst>
          </p:cNvPr>
          <p:cNvSpPr>
            <a:spLocks noGrp="1"/>
          </p:cNvSpPr>
          <p:nvPr/>
        </p:nvSpPr>
        <p:spPr>
          <a:xfrm>
            <a:off x="4400550" y="2438400"/>
            <a:ext cx="3333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监督伯爵审判</a:t>
            </a:r>
          </a:p>
          <a:p>
            <a:pPr algn="l">
              <a:lnSpc>
                <a:spcPct val="112000"/>
              </a:lnSpc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借领主召集人员</a:t>
            </a:r>
          </a:p>
        </p:txBody>
      </p:sp>
      <p:sp>
        <p:nvSpPr>
          <p:cNvPr id="10" name="text-109">
            <a:extLst>
              <a:ext uri="{FF2B5EF4-FFF2-40B4-BE49-F238E27FC236}">
                <a16:creationId xmlns:a16="http://schemas.microsoft.com/office/drawing/2014/main" id="{E48DDBC2-C0A1-4595-B637-65B8C45D87FD}"/>
              </a:ext>
            </a:extLst>
          </p:cNvPr>
          <p:cNvSpPr>
            <a:spLocks noGrp="1"/>
          </p:cNvSpPr>
          <p:nvPr/>
        </p:nvSpPr>
        <p:spPr>
          <a:xfrm>
            <a:off x="8191500" y="1809750"/>
            <a:ext cx="333375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文化教育</a:t>
            </a:r>
          </a:p>
        </p:txBody>
      </p:sp>
      <p:sp>
        <p:nvSpPr>
          <p:cNvPr id="11" name="text-110">
            <a:extLst>
              <a:ext uri="{FF2B5EF4-FFF2-40B4-BE49-F238E27FC236}">
                <a16:creationId xmlns:a16="http://schemas.microsoft.com/office/drawing/2014/main" id="{09E3C380-85EC-4251-9FB9-26F4C9B42171}"/>
              </a:ext>
            </a:extLst>
          </p:cNvPr>
          <p:cNvSpPr>
            <a:spLocks noGrp="1"/>
          </p:cNvSpPr>
          <p:nvPr/>
        </p:nvSpPr>
        <p:spPr>
          <a:xfrm>
            <a:off x="8191500" y="2438400"/>
            <a:ext cx="3333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支持教育和书籍抄写</a:t>
            </a:r>
          </a:p>
          <a:p>
            <a:pPr algn="l">
              <a:lnSpc>
                <a:spcPct val="112000"/>
              </a:lnSpc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文化影响在分裂后延续</a:t>
            </a:r>
          </a:p>
        </p:txBody>
      </p:sp>
      <p:sp>
        <p:nvSpPr>
          <p:cNvPr id="12" name="rule-111">
            <a:extLst>
              <a:ext uri="{FF2B5EF4-FFF2-40B4-BE49-F238E27FC236}">
                <a16:creationId xmlns:a16="http://schemas.microsoft.com/office/drawing/2014/main" id="{60A79748-1C79-46EB-86D8-4BE2512F84A7}"/>
              </a:ext>
            </a:extLst>
          </p:cNvPr>
          <p:cNvSpPr>
            <a:spLocks noGrp="1"/>
          </p:cNvSpPr>
          <p:nvPr/>
        </p:nvSpPr>
        <p:spPr>
          <a:xfrm>
            <a:off x="609600" y="3981450"/>
            <a:ext cx="10972800" cy="0"/>
          </a:xfrm>
          <a:prstGeom prst="line">
            <a:avLst/>
          </a:prstGeom>
          <a:noFill/>
          <a:ln w="9525">
            <a:solidFill>
              <a:srgbClr val="C9C4B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text-112">
            <a:extLst>
              <a:ext uri="{FF2B5EF4-FFF2-40B4-BE49-F238E27FC236}">
                <a16:creationId xmlns:a16="http://schemas.microsoft.com/office/drawing/2014/main" id="{2E9973CB-21B3-4ECE-99D4-C7D25B4D8686}"/>
              </a:ext>
            </a:extLst>
          </p:cNvPr>
          <p:cNvSpPr>
            <a:spLocks noGrp="1"/>
          </p:cNvSpPr>
          <p:nvPr/>
        </p:nvSpPr>
        <p:spPr>
          <a:xfrm>
            <a:off x="609600" y="4400550"/>
            <a:ext cx="10972800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8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8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8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8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8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8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8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8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8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28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他继承了罗马的皇帝理想</a:t>
            </a:r>
          </a:p>
          <a:p>
            <a:pPr algn="l">
              <a:lnSpc>
                <a:spcPct val="112000"/>
              </a:lnSpc>
              <a:buNone/>
              <a:defRPr sz="28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也依靠地方贵族和教会治理帝国</a:t>
            </a:r>
          </a:p>
        </p:txBody>
      </p:sp>
    </p:spTree>
    <p:extLst>
      <p:ext uri="{BB962C8B-B14F-4D97-AF65-F5344CB8AC3E}">
        <p14:creationId xmlns:p14="http://schemas.microsoft.com/office/powerpoint/2010/main" val="2991059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-113">
            <a:extLst>
              <a:ext uri="{FF2B5EF4-FFF2-40B4-BE49-F238E27FC236}">
                <a16:creationId xmlns:a16="http://schemas.microsoft.com/office/drawing/2014/main" id="{289B1E7C-276C-487A-8B07-1DDDFB2850D4}"/>
              </a:ext>
            </a:extLst>
          </p:cNvPr>
          <p:cNvSpPr>
            <a:spLocks noGrp="1"/>
          </p:cNvSpPr>
          <p:nvPr/>
        </p:nvSpPr>
        <p:spPr>
          <a:xfrm>
            <a:off x="609600" y="257175"/>
            <a:ext cx="98107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中世纪欧洲文明   /   附录 · 书目</a:t>
            </a:r>
          </a:p>
        </p:txBody>
      </p:sp>
      <p:sp>
        <p:nvSpPr>
          <p:cNvPr id="2" name="text-114">
            <a:extLst>
              <a:ext uri="{FF2B5EF4-FFF2-40B4-BE49-F238E27FC236}">
                <a16:creationId xmlns:a16="http://schemas.microsoft.com/office/drawing/2014/main" id="{B1AAFEBF-A3CF-44BC-82B4-C1F400B3F050}"/>
              </a:ext>
            </a:extLst>
          </p:cNvPr>
          <p:cNvSpPr>
            <a:spLocks noGrp="1"/>
          </p:cNvSpPr>
          <p:nvPr/>
        </p:nvSpPr>
        <p:spPr>
          <a:xfrm>
            <a:off x="10972800" y="247650"/>
            <a:ext cx="6096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3" name="heading-11">
            <a:extLst>
              <a:ext uri="{FF2B5EF4-FFF2-40B4-BE49-F238E27FC236}">
                <a16:creationId xmlns:a16="http://schemas.microsoft.com/office/drawing/2014/main" id="{D9EA11AC-4D9B-4E5C-9495-3C4A630926FD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参考书目与页码说明</a:t>
            </a:r>
          </a:p>
        </p:txBody>
      </p:sp>
      <p:sp>
        <p:nvSpPr>
          <p:cNvPr id="4" name="rule-115">
            <a:extLst>
              <a:ext uri="{FF2B5EF4-FFF2-40B4-BE49-F238E27FC236}">
                <a16:creationId xmlns:a16="http://schemas.microsoft.com/office/drawing/2014/main" id="{36388BAA-ABAF-450C-A926-3FDC4CBDF9B1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972800" cy="0"/>
          </a:xfrm>
          <a:prstGeom prst="line">
            <a:avLst/>
          </a:prstGeom>
          <a:noFill/>
          <a:ln w="9525">
            <a:solidFill>
              <a:srgbClr val="C9C4B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text-116">
            <a:extLst>
              <a:ext uri="{FF2B5EF4-FFF2-40B4-BE49-F238E27FC236}">
                <a16:creationId xmlns:a16="http://schemas.microsoft.com/office/drawing/2014/main" id="{D947860F-524F-423A-A2D4-0E8C591A3676}"/>
              </a:ext>
            </a:extLst>
          </p:cNvPr>
          <p:cNvSpPr>
            <a:spLocks noGrp="1"/>
          </p:cNvSpPr>
          <p:nvPr/>
        </p:nvSpPr>
        <p:spPr>
          <a:xfrm>
            <a:off x="609600" y="6181725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endParaRPr sz="1223" b="0">
              <a:solidFill>
                <a:srgbClr val="59646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text-117">
            <a:extLst>
              <a:ext uri="{FF2B5EF4-FFF2-40B4-BE49-F238E27FC236}">
                <a16:creationId xmlns:a16="http://schemas.microsoft.com/office/drawing/2014/main" id="{51A7C227-D0A3-48B1-A782-D197FC0018EE}"/>
              </a:ext>
            </a:extLst>
          </p:cNvPr>
          <p:cNvSpPr>
            <a:spLocks noGrp="1"/>
          </p:cNvSpPr>
          <p:nvPr/>
        </p:nvSpPr>
        <p:spPr>
          <a:xfrm>
            <a:off x="609600" y="162877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艾因哈德《查理大帝传》</a:t>
            </a:r>
          </a:p>
        </p:txBody>
      </p:sp>
      <p:sp>
        <p:nvSpPr>
          <p:cNvPr id="7" name="text-118">
            <a:extLst>
              <a:ext uri="{FF2B5EF4-FFF2-40B4-BE49-F238E27FC236}">
                <a16:creationId xmlns:a16="http://schemas.microsoft.com/office/drawing/2014/main" id="{D994B48C-608D-439D-9832-1B7CB0F78C7F}"/>
              </a:ext>
            </a:extLst>
          </p:cNvPr>
          <p:cNvSpPr>
            <a:spLocks noGrp="1"/>
          </p:cNvSpPr>
          <p:nvPr/>
        </p:nvSpPr>
        <p:spPr>
          <a:xfrm>
            <a:off x="609600" y="1962150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10—12、28—31页</a:t>
            </a:r>
          </a:p>
        </p:txBody>
      </p:sp>
      <p:sp>
        <p:nvSpPr>
          <p:cNvPr id="8" name="text-119">
            <a:extLst>
              <a:ext uri="{FF2B5EF4-FFF2-40B4-BE49-F238E27FC236}">
                <a16:creationId xmlns:a16="http://schemas.microsoft.com/office/drawing/2014/main" id="{E2FE95A5-C53C-4BFE-8C74-2B5EC397D4BF}"/>
              </a:ext>
            </a:extLst>
          </p:cNvPr>
          <p:cNvSpPr>
            <a:spLocks noGrp="1"/>
          </p:cNvSpPr>
          <p:nvPr/>
        </p:nvSpPr>
        <p:spPr>
          <a:xfrm>
            <a:off x="609600" y="235267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巴尔贝罗《查理大帝：欧洲之父》</a:t>
            </a:r>
          </a:p>
        </p:txBody>
      </p:sp>
      <p:sp>
        <p:nvSpPr>
          <p:cNvPr id="9" name="text-120">
            <a:extLst>
              <a:ext uri="{FF2B5EF4-FFF2-40B4-BE49-F238E27FC236}">
                <a16:creationId xmlns:a16="http://schemas.microsoft.com/office/drawing/2014/main" id="{08A7810D-9249-4E46-9D21-BA386AF3B497}"/>
              </a:ext>
            </a:extLst>
          </p:cNvPr>
          <p:cNvSpPr>
            <a:spLocks noGrp="1"/>
          </p:cNvSpPr>
          <p:nvPr/>
        </p:nvSpPr>
        <p:spPr>
          <a:xfrm>
            <a:off x="609600" y="2686050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113、146—149、206—210、229、231—239、271—272页</a:t>
            </a:r>
          </a:p>
        </p:txBody>
      </p:sp>
      <p:sp>
        <p:nvSpPr>
          <p:cNvPr id="10" name="text-121">
            <a:extLst>
              <a:ext uri="{FF2B5EF4-FFF2-40B4-BE49-F238E27FC236}">
                <a16:creationId xmlns:a16="http://schemas.microsoft.com/office/drawing/2014/main" id="{E0A4D83A-E549-4823-A390-5BC61231C132}"/>
              </a:ext>
            </a:extLst>
          </p:cNvPr>
          <p:cNvSpPr>
            <a:spLocks noGrp="1"/>
          </p:cNvSpPr>
          <p:nvPr/>
        </p:nvSpPr>
        <p:spPr>
          <a:xfrm>
            <a:off x="609600" y="307657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布洛赫《封建社会》上卷</a:t>
            </a:r>
          </a:p>
        </p:txBody>
      </p:sp>
      <p:sp>
        <p:nvSpPr>
          <p:cNvPr id="11" name="text-122">
            <a:extLst>
              <a:ext uri="{FF2B5EF4-FFF2-40B4-BE49-F238E27FC236}">
                <a16:creationId xmlns:a16="http://schemas.microsoft.com/office/drawing/2014/main" id="{CC4981B1-EC24-4417-817A-CCC660915BB1}"/>
              </a:ext>
            </a:extLst>
          </p:cNvPr>
          <p:cNvSpPr>
            <a:spLocks noGrp="1"/>
          </p:cNvSpPr>
          <p:nvPr/>
        </p:nvSpPr>
        <p:spPr>
          <a:xfrm>
            <a:off x="609600" y="3409950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266—269页</a:t>
            </a:r>
          </a:p>
        </p:txBody>
      </p:sp>
      <p:sp>
        <p:nvSpPr>
          <p:cNvPr id="12" name="text-123">
            <a:extLst>
              <a:ext uri="{FF2B5EF4-FFF2-40B4-BE49-F238E27FC236}">
                <a16:creationId xmlns:a16="http://schemas.microsoft.com/office/drawing/2014/main" id="{D6D4A1C1-CA2E-423C-92DD-2A34D43A6B84}"/>
              </a:ext>
            </a:extLst>
          </p:cNvPr>
          <p:cNvSpPr>
            <a:spLocks noGrp="1"/>
          </p:cNvSpPr>
          <p:nvPr/>
        </p:nvSpPr>
        <p:spPr>
          <a:xfrm>
            <a:off x="609600" y="380047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7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7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7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7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7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7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7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7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7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7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Janet L. Nelson, King and Emperor: A New Life of Charlemagne</a:t>
            </a:r>
          </a:p>
        </p:txBody>
      </p:sp>
      <p:sp>
        <p:nvSpPr>
          <p:cNvPr id="13" name="text-124">
            <a:extLst>
              <a:ext uri="{FF2B5EF4-FFF2-40B4-BE49-F238E27FC236}">
                <a16:creationId xmlns:a16="http://schemas.microsoft.com/office/drawing/2014/main" id="{EFDA4D45-7D80-45D1-84BF-15C6E26FCC2B}"/>
              </a:ext>
            </a:extLst>
          </p:cNvPr>
          <p:cNvSpPr>
            <a:spLocks noGrp="1"/>
          </p:cNvSpPr>
          <p:nvPr/>
        </p:nvSpPr>
        <p:spPr>
          <a:xfrm>
            <a:off x="609600" y="4133850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PDF 175、204、251、405—408、480—481、497—498、515页</a:t>
            </a:r>
          </a:p>
        </p:txBody>
      </p:sp>
      <p:sp>
        <p:nvSpPr>
          <p:cNvPr id="14" name="text-125">
            <a:extLst>
              <a:ext uri="{FF2B5EF4-FFF2-40B4-BE49-F238E27FC236}">
                <a16:creationId xmlns:a16="http://schemas.microsoft.com/office/drawing/2014/main" id="{BE7EF4E9-3167-4AEB-99BD-199F121746AE}"/>
              </a:ext>
            </a:extLst>
          </p:cNvPr>
          <p:cNvSpPr>
            <a:spLocks noGrp="1"/>
          </p:cNvSpPr>
          <p:nvPr/>
        </p:nvSpPr>
        <p:spPr>
          <a:xfrm>
            <a:off x="609600" y="452437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皮朗《穆罕默德和查理曼》</a:t>
            </a:r>
          </a:p>
        </p:txBody>
      </p:sp>
      <p:sp>
        <p:nvSpPr>
          <p:cNvPr id="15" name="text-126">
            <a:extLst>
              <a:ext uri="{FF2B5EF4-FFF2-40B4-BE49-F238E27FC236}">
                <a16:creationId xmlns:a16="http://schemas.microsoft.com/office/drawing/2014/main" id="{ED26B4EA-59DD-4F4A-9ECE-1DF72DBF16E8}"/>
              </a:ext>
            </a:extLst>
          </p:cNvPr>
          <p:cNvSpPr>
            <a:spLocks noGrp="1"/>
          </p:cNvSpPr>
          <p:nvPr/>
        </p:nvSpPr>
        <p:spPr>
          <a:xfrm>
            <a:off x="609600" y="4857750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290页文化延续；译者前言4页（PDF 10）：经济解释的争议</a:t>
            </a:r>
          </a:p>
        </p:txBody>
      </p:sp>
      <p:sp>
        <p:nvSpPr>
          <p:cNvPr id="16" name="text-127">
            <a:extLst>
              <a:ext uri="{FF2B5EF4-FFF2-40B4-BE49-F238E27FC236}">
                <a16:creationId xmlns:a16="http://schemas.microsoft.com/office/drawing/2014/main" id="{32148911-EDA0-419E-ABCC-A389752A618C}"/>
              </a:ext>
            </a:extLst>
          </p:cNvPr>
          <p:cNvSpPr>
            <a:spLocks noGrp="1"/>
          </p:cNvSpPr>
          <p:nvPr/>
        </p:nvSpPr>
        <p:spPr>
          <a:xfrm>
            <a:off x="609600" y="5476875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50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50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50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50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50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50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50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50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50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2000"/>
              </a:lnSpc>
              <a:buNone/>
              <a:defRPr sz="150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endParaRPr sz="1500" b="0">
              <a:solidFill>
                <a:srgbClr val="9A443A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40398454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1635</Words>
  <Application>Microsoft Office PowerPoint</Application>
  <DocSecurity>0</DocSecurity>
  <PresentationFormat>宽屏</PresentationFormat>
  <Paragraphs>253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4" baseType="lpstr">
      <vt:lpstr>Microsoft YaHei</vt:lpstr>
      <vt:lpstr>Aptos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祺昀 张</cp:lastModifiedBy>
  <cp:revision>1</cp:revision>
  <dcterms:created xsi:type="dcterms:W3CDTF">2026-10-28T10:12:39Z</dcterms:created>
  <dcterms:modified xsi:type="dcterms:W3CDTF">2026-10-29T13:03:27Z</dcterms:modified>
</cp:coreProperties>
</file>